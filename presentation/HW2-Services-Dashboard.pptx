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9C8CD55B-AED8-9715-626E-E922A7A68FD6}">
          <p14:sldIdLst>
            <p14:sldId id="256"/>
            <p14:sldId id="257"/>
            <p14:sldId id="258"/>
          </p14:sldIdLst>
        </p14:section>
        <p14:section name="How it works" id="{02001676-104A-6921-AC71-79178C6F05DF}">
          <p14:sldIdLst>
            <p14:sldId id="259"/>
            <p14:sldId id="260"/>
            <p14:sldId id="261"/>
          </p14:sldIdLst>
        </p14:section>
        <p14:section name="Results" id="{24477777-C5B0-215D-B4C0-60AB4CCDE6BD}">
          <p14:sldIdLst>
            <p14:sldId id="262"/>
            <p14:sldId id="263"/>
            <p14:sldId id="264"/>
            <p14:sldId id="265"/>
            <p14:sldId id="266"/>
          </p14:sldIdLst>
        </p14:section>
        <p14:section name="Lessons" id="{257EBF1E-65EA-A12B-73FE-16EF2FB4BD8E}">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0" d="100"/>
          <a:sy n="120" d="100"/>
        </p:scale>
        <p:origin x="2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7220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connect Claude Code to four services with MCP, download their data into a documented local format, make the download repeatable with a skill, and search everything in a local dashboard.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four services. Claude Code talks to each one through an MCP server. The skill writes everything to dataExports in one documented format. The dashboard is a static site served locally that only reads those files.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Notion and GitHub use the vendors' official MCP servers configured in .mcp.json. Gmail and Calendar ended up on the Claude.ai connectors because Google's official MCP requires the Workspace developer preview.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was created in a separate conversation and then cleared with /clear, so the download step had to find the data rather than remember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wrote the specification before downloading anything, so the format is my decision, not Claude's. When Notion turned out not to return creation dates, the spec was updated: Notion indexes sort by last-edited time.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test the assignment asks for: after /clear, a plain request with no mention of the skill or the format. Claude found and followed the skill on its own.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Gmail test account. Right: the dashboard after searching the subject. The body is identical because body.txt stores the plain text exactly as received.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Times are stored in UTC in metadata.json and the dashboard converts them back to the browser's local time.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shows the README and then every issue of the repo, read from issues/&lt;n&gt;.json.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Notion content is stored as Markdown in content.md, so it is readable as a file and renders cleanly in the dashboard.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feature the assignment asks for: search across multiple services at once, with each result clearly labeled by service.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lessons were about access and security, not code: which servers are really usable, where secrets live, and who is allowed to grant permissions.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Clone the repo, start the local server from the project root, open the dashboard and search.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280160"/>
          </a:xfrm>
          <a:prstGeom prst="rect">
            <a:avLst/>
          </a:prstGeom>
          <a:noFill/>
          <a:ln/>
        </p:spPr>
        <p:txBody>
          <a:bodyPr wrap="square" rtlCol="0"/>
          <a:lstStyle>
            <a:lvl1pPr marL="0" indent="0" algn="l">
              <a:buNone/>
              <a:defRPr lang="en-US" sz="4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474720"/>
            <a:ext cx="10698480" cy="1463040"/>
          </a:xfrm>
          <a:prstGeom prst="rect">
            <a:avLst/>
          </a:prstGeom>
          <a:noFill/>
          <a:ln/>
        </p:spPr>
        <p:txBody>
          <a:bodyPr wrap="square" rtlCol="0"/>
          <a:lstStyle>
            <a:lvl1pPr marL="0" indent="0">
              <a:buNone/>
              <a:defRPr lang="en-US" sz="2000" dirty="0">
                <a:solidFill>
                  <a:schemeClr val="bg2"/>
                </a:solidFill>
                <a:latin typeface="Calibri" pitchFamily="34" charset="0"/>
                <a:ea typeface="Calibri" pitchFamily="34" charset="-122"/>
                <a:cs typeface="Calibri" pitchFamily="34" charset="-120"/>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lstStyle>
            <a:lvl1pPr marL="0" indent="0" algn="l">
              <a:buNone/>
              <a:defRPr lang="en-US" sz="32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rgbClr val="6B7280"/>
                </a:solidFill>
              </a:rPr>
              <a:t>HW2 · 3rd Party Services Dashboard</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6.jpg"/></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280160"/>
          </a:xfrm>
          <a:prstGeom prst="rect">
            <a:avLst/>
          </a:prstGeom>
          <a:noFill/>
          <a:ln/>
        </p:spPr>
        <p:txBody>
          <a:bodyPr wrap="square" lIns="0" tIns="0" rIns="0" bIns="0" rtlCol="0" anchor="b"/>
          <a:lstStyle/>
          <a:p>
            <a:pPr marL="0" indent="0" algn="l">
              <a:buNone/>
            </a:pPr>
            <a:r>
              <a:rPr lang="en-US" sz="4400" b="1" dirty="0">
                <a:solidFill>
                  <a:schemeClr val="bg1"/>
                </a:solidFill>
                <a:latin typeface="Cambria" pitchFamily="34" charset="0"/>
                <a:ea typeface="Cambria" pitchFamily="34" charset="-122"/>
                <a:cs typeface="Cambria" pitchFamily="34" charset="-120"/>
              </a:rPr>
              <a:t>3rd Party Services Dashboard</a:t>
            </a:r>
            <a:endParaRPr lang="en-US" sz="4400" dirty="0"/>
          </a:p>
        </p:txBody>
      </p:sp>
      <p:sp>
        <p:nvSpPr>
          <p:cNvPr id="3" name="Text 0"/>
          <p:cNvSpPr>
            <a:spLocks noGrp="1"/>
          </p:cNvSpPr>
          <p:nvPr>
            <p:ph type="body" idx="101" hasCustomPrompt="1"/>
          </p:nvPr>
        </p:nvSpPr>
        <p:spPr>
          <a:xfrm>
            <a:off x="731520" y="3474720"/>
            <a:ext cx="10698480" cy="1463040"/>
          </a:xfrm>
          <a:prstGeom prst="rect">
            <a:avLst/>
          </a:prstGeom>
          <a:noFill/>
          <a:ln/>
        </p:spPr>
        <p:txBody>
          <a:bodyPr wrap="square" lIns="0" tIns="0" rIns="0" bIns="0" rtlCol="0" anchor="t"/>
          <a:lstStyle/>
          <a:p>
            <a:pPr marL="0" indent="0">
              <a:buNone/>
            </a:pPr>
            <a:r>
              <a:rPr lang="en-US" sz="2000" dirty="0">
                <a:solidFill>
                  <a:schemeClr val="bg2"/>
                </a:solidFill>
                <a:latin typeface="Calibri" pitchFamily="34" charset="0"/>
                <a:ea typeface="Calibri" pitchFamily="34" charset="-122"/>
                <a:cs typeface="Calibri" pitchFamily="34" charset="-120"/>
              </a:rPr>
              <a:t>Claude Code + MCP: Gmail · Google Calendar · GitHub · Notion → local files → one search</a:t>
            </a:r>
            <a:endParaRPr lang="en-US" sz="2000" dirty="0"/>
          </a:p>
          <a:p>
            <a:pPr marL="0" indent="0">
              <a:buNone/>
            </a:pPr>
            <a:r>
              <a:rPr lang="en-US" sz="1000" dirty="0">
                <a:solidFill>
                  <a:schemeClr val="bg2"/>
                </a:solidFill>
                <a:latin typeface="Calibri" pitchFamily="34" charset="0"/>
                <a:ea typeface="Calibri" pitchFamily="34" charset="-122"/>
                <a:cs typeface="Calibri" pitchFamily="34" charset="-120"/>
              </a:rPr>
              <a:t> </a:t>
            </a:r>
            <a:endParaRPr lang="en-US" sz="2000" dirty="0"/>
          </a:p>
          <a:p>
            <a:pPr marL="0" indent="0">
              <a:buNone/>
            </a:pPr>
            <a:r>
              <a:rPr lang="en-US" sz="1400" dirty="0">
                <a:solidFill>
                  <a:schemeClr val="accent1"/>
                </a:solidFill>
                <a:latin typeface="Calibri" pitchFamily="34" charset="0"/>
                <a:ea typeface="Calibri" pitchFamily="34" charset="-122"/>
                <a:cs typeface="Calibri" pitchFamily="34" charset="-120"/>
              </a:rPr>
              <a:t>HW2 · AI Assisted Development of Products and Services · Prof. Rosenthal · Sruly (Israel Pollak)</a:t>
            </a:r>
            <a:endParaRPr lang="en-US" sz="2000" dirty="0"/>
          </a:p>
        </p:txBody>
      </p:sp>
      <p:sp>
        <p:nvSpPr>
          <p:cNvPr id="4" name="chip-gmail"/>
          <p:cNvSpPr txBox="1"/>
          <p:nvPr/>
        </p:nvSpPr>
        <p:spPr>
          <a:xfrm>
            <a:off x="731520" y="1234440"/>
            <a:ext cx="1417320" cy="347472"/>
          </a:xfrm>
          <a:prstGeom prst="roundRect">
            <a:avLst>
              <a:gd name="adj" fmla="val 21053"/>
            </a:avLst>
          </a:prstGeom>
          <a:solidFill>
            <a:schemeClr val="accent2"/>
          </a:solidFill>
          <a:ln/>
        </p:spPr>
        <p:txBody>
          <a:bodyPr wrap="square" lIns="0" tIns="0" rIns="0" bIns="0" rtlCol="0" anchor="ctr"/>
          <a:lstStyle/>
          <a:p>
            <a:pPr marL="0" indent="0" algn="ctr">
              <a:buNone/>
            </a:pPr>
            <a:r>
              <a:rPr lang="en-US" sz="1200" b="1" dirty="0">
                <a:solidFill>
                  <a:schemeClr val="bg1"/>
                </a:solidFill>
              </a:rPr>
              <a:t>GMAIL</a:t>
            </a:r>
            <a:endParaRPr lang="en-US" sz="1200" dirty="0"/>
          </a:p>
        </p:txBody>
      </p:sp>
      <p:sp>
        <p:nvSpPr>
          <p:cNvPr id="5" name="chip-calendar"/>
          <p:cNvSpPr txBox="1"/>
          <p:nvPr/>
        </p:nvSpPr>
        <p:spPr>
          <a:xfrm>
            <a:off x="2331720" y="1234440"/>
            <a:ext cx="1417320" cy="347472"/>
          </a:xfrm>
          <a:prstGeom prst="roundRect">
            <a:avLst>
              <a:gd name="adj" fmla="val 21053"/>
            </a:avLst>
          </a:prstGeom>
          <a:solidFill>
            <a:schemeClr val="accent3"/>
          </a:solidFill>
          <a:ln/>
        </p:spPr>
        <p:txBody>
          <a:bodyPr wrap="square" lIns="0" tIns="0" rIns="0" bIns="0" rtlCol="0" anchor="ctr"/>
          <a:lstStyle/>
          <a:p>
            <a:pPr marL="0" indent="0" algn="ctr">
              <a:buNone/>
            </a:pPr>
            <a:r>
              <a:rPr lang="en-US" sz="1200" b="1" dirty="0">
                <a:solidFill>
                  <a:schemeClr val="bg1"/>
                </a:solidFill>
              </a:rPr>
              <a:t>CALENDAR</a:t>
            </a:r>
            <a:endParaRPr lang="en-US" sz="1200" dirty="0"/>
          </a:p>
        </p:txBody>
      </p:sp>
      <p:sp>
        <p:nvSpPr>
          <p:cNvPr id="6" name="chip-github"/>
          <p:cNvSpPr txBox="1"/>
          <p:nvPr/>
        </p:nvSpPr>
        <p:spPr>
          <a:xfrm>
            <a:off x="3931920" y="1234440"/>
            <a:ext cx="1417320" cy="347472"/>
          </a:xfrm>
          <a:prstGeom prst="roundRect">
            <a:avLst>
              <a:gd name="adj" fmla="val 21053"/>
            </a:avLst>
          </a:prstGeom>
          <a:solidFill>
            <a:srgbClr val="3A4048"/>
          </a:solidFill>
          <a:ln/>
        </p:spPr>
        <p:txBody>
          <a:bodyPr wrap="square" lIns="0" tIns="0" rIns="0" bIns="0" rtlCol="0" anchor="ctr"/>
          <a:lstStyle/>
          <a:p>
            <a:pPr marL="0" indent="0" algn="ctr">
              <a:buNone/>
            </a:pPr>
            <a:r>
              <a:rPr lang="en-US" sz="1200" b="1" dirty="0">
                <a:solidFill>
                  <a:schemeClr val="bg1"/>
                </a:solidFill>
              </a:rPr>
              <a:t>GITHUB</a:t>
            </a:r>
            <a:endParaRPr lang="en-US" sz="1200" dirty="0"/>
          </a:p>
        </p:txBody>
      </p:sp>
      <p:sp>
        <p:nvSpPr>
          <p:cNvPr id="7" name="chip-notion"/>
          <p:cNvSpPr txBox="1"/>
          <p:nvPr/>
        </p:nvSpPr>
        <p:spPr>
          <a:xfrm>
            <a:off x="5532120" y="1234440"/>
            <a:ext cx="1417320" cy="347472"/>
          </a:xfrm>
          <a:prstGeom prst="roundRect">
            <a:avLst>
              <a:gd name="adj" fmla="val 21053"/>
            </a:avLst>
          </a:prstGeom>
          <a:solidFill>
            <a:schemeClr val="accent5"/>
          </a:solidFill>
          <a:ln/>
        </p:spPr>
        <p:txBody>
          <a:bodyPr wrap="square" lIns="0" tIns="0" rIns="0" bIns="0" rtlCol="0" anchor="ctr"/>
          <a:lstStyle/>
          <a:p>
            <a:pPr marL="0" indent="0" algn="ctr">
              <a:buNone/>
            </a:pPr>
            <a:r>
              <a:rPr lang="en-US" sz="1200" b="1" dirty="0">
                <a:solidFill>
                  <a:schemeClr val="bg1"/>
                </a:solidFill>
              </a:rPr>
              <a:t>NOTION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How the pieces fit together</a:t>
            </a:r>
            <a:endParaRPr lang="en-US" sz="3200" dirty="0"/>
          </a:p>
        </p:txBody>
      </p:sp>
      <p:sp>
        <p:nvSpPr>
          <p:cNvPr id="3" name="svc-0"/>
          <p:cNvSpPr txBox="1"/>
          <p:nvPr/>
        </p:nvSpPr>
        <p:spPr>
          <a:xfrm>
            <a:off x="548640" y="1463040"/>
            <a:ext cx="2194560" cy="777240"/>
          </a:xfrm>
          <a:prstGeom prst="roundRect">
            <a:avLst>
              <a:gd name="adj" fmla="val 11765"/>
            </a:avLst>
          </a:prstGeom>
          <a:solidFill>
            <a:schemeClr val="accent2"/>
          </a:solidFill>
          <a:ln/>
        </p:spPr>
        <p:txBody>
          <a:bodyPr wrap="square" rtlCol="0" anchor="ctr"/>
          <a:lstStyle/>
          <a:p>
            <a:pPr marL="0" indent="0" algn="ctr">
              <a:buNone/>
            </a:pPr>
            <a:r>
              <a:rPr lang="en-US" sz="1600" b="1" dirty="0">
                <a:solidFill>
                  <a:schemeClr val="bg1"/>
                </a:solidFill>
              </a:rPr>
              <a:t>Gmail</a:t>
            </a:r>
            <a:endParaRPr lang="en-US" sz="1600" dirty="0"/>
          </a:p>
        </p:txBody>
      </p:sp>
      <p:sp>
        <p:nvSpPr>
          <p:cNvPr id="4" name="svc-arrow-0"/>
          <p:cNvSpPr/>
          <p:nvPr/>
        </p:nvSpPr>
        <p:spPr>
          <a:xfrm>
            <a:off x="2743200" y="1856232"/>
            <a:ext cx="822960" cy="1572768"/>
          </a:xfrm>
          <a:prstGeom prst="line">
            <a:avLst/>
          </a:prstGeom>
          <a:noFill/>
          <a:ln w="19050">
            <a:solidFill>
              <a:srgbClr val="9CA3AF"/>
            </a:solidFill>
            <a:prstDash val="solid"/>
            <a:tailEnd type="triangle"/>
          </a:ln>
        </p:spPr>
        <p:txBody>
          <a:bodyPr/>
          <a:lstStyle/>
          <a:p>
            <a:endParaRPr lang="en-CL"/>
          </a:p>
        </p:txBody>
      </p:sp>
      <p:sp>
        <p:nvSpPr>
          <p:cNvPr id="5" name="svc-1"/>
          <p:cNvSpPr txBox="1"/>
          <p:nvPr/>
        </p:nvSpPr>
        <p:spPr>
          <a:xfrm>
            <a:off x="548640" y="2514600"/>
            <a:ext cx="2194560" cy="777240"/>
          </a:xfrm>
          <a:prstGeom prst="roundRect">
            <a:avLst>
              <a:gd name="adj" fmla="val 11765"/>
            </a:avLst>
          </a:prstGeom>
          <a:solidFill>
            <a:schemeClr val="accent3"/>
          </a:solidFill>
          <a:ln/>
        </p:spPr>
        <p:txBody>
          <a:bodyPr wrap="square" rtlCol="0" anchor="ctr"/>
          <a:lstStyle/>
          <a:p>
            <a:pPr marL="0" indent="0" algn="ctr">
              <a:buNone/>
            </a:pPr>
            <a:r>
              <a:rPr lang="en-US" sz="1600" b="1" dirty="0">
                <a:solidFill>
                  <a:schemeClr val="bg1"/>
                </a:solidFill>
              </a:rPr>
              <a:t>Google Calendar</a:t>
            </a:r>
            <a:endParaRPr lang="en-US" sz="1600" dirty="0"/>
          </a:p>
        </p:txBody>
      </p:sp>
      <p:sp>
        <p:nvSpPr>
          <p:cNvPr id="6" name="svc-arrow-1"/>
          <p:cNvSpPr/>
          <p:nvPr/>
        </p:nvSpPr>
        <p:spPr>
          <a:xfrm>
            <a:off x="2743200" y="2907792"/>
            <a:ext cx="822960" cy="521208"/>
          </a:xfrm>
          <a:prstGeom prst="line">
            <a:avLst/>
          </a:prstGeom>
          <a:noFill/>
          <a:ln w="19050">
            <a:solidFill>
              <a:srgbClr val="9CA3AF"/>
            </a:solidFill>
            <a:prstDash val="solid"/>
            <a:tailEnd type="triangle"/>
          </a:ln>
        </p:spPr>
        <p:txBody>
          <a:bodyPr/>
          <a:lstStyle/>
          <a:p>
            <a:endParaRPr lang="en-CL"/>
          </a:p>
        </p:txBody>
      </p:sp>
      <p:sp>
        <p:nvSpPr>
          <p:cNvPr id="7" name="svc-2"/>
          <p:cNvSpPr txBox="1"/>
          <p:nvPr/>
        </p:nvSpPr>
        <p:spPr>
          <a:xfrm>
            <a:off x="548640" y="3566160"/>
            <a:ext cx="2194560" cy="777240"/>
          </a:xfrm>
          <a:prstGeom prst="roundRect">
            <a:avLst>
              <a:gd name="adj" fmla="val 11765"/>
            </a:avLst>
          </a:prstGeom>
          <a:solidFill>
            <a:schemeClr val="accent4"/>
          </a:solidFill>
          <a:ln/>
        </p:spPr>
        <p:txBody>
          <a:bodyPr wrap="square" rtlCol="0" anchor="ctr"/>
          <a:lstStyle/>
          <a:p>
            <a:pPr marL="0" indent="0" algn="ctr">
              <a:buNone/>
            </a:pPr>
            <a:r>
              <a:rPr lang="en-US" sz="1600" b="1" dirty="0">
                <a:solidFill>
                  <a:schemeClr val="bg1"/>
                </a:solidFill>
              </a:rPr>
              <a:t>GitHub</a:t>
            </a:r>
            <a:endParaRPr lang="en-US" sz="1600" dirty="0"/>
          </a:p>
        </p:txBody>
      </p:sp>
      <p:sp>
        <p:nvSpPr>
          <p:cNvPr id="8" name="svc-arrow-2"/>
          <p:cNvSpPr/>
          <p:nvPr/>
        </p:nvSpPr>
        <p:spPr>
          <a:xfrm flipV="1">
            <a:off x="2743200" y="3438144"/>
            <a:ext cx="822960" cy="521208"/>
          </a:xfrm>
          <a:prstGeom prst="line">
            <a:avLst/>
          </a:prstGeom>
          <a:noFill/>
          <a:ln w="19050">
            <a:solidFill>
              <a:srgbClr val="9CA3AF"/>
            </a:solidFill>
            <a:prstDash val="solid"/>
            <a:tailEnd type="triangle"/>
          </a:ln>
        </p:spPr>
        <p:txBody>
          <a:bodyPr/>
          <a:lstStyle/>
          <a:p>
            <a:endParaRPr lang="en-CL"/>
          </a:p>
        </p:txBody>
      </p:sp>
      <p:sp>
        <p:nvSpPr>
          <p:cNvPr id="9" name="svc-3"/>
          <p:cNvSpPr txBox="1"/>
          <p:nvPr/>
        </p:nvSpPr>
        <p:spPr>
          <a:xfrm>
            <a:off x="548640" y="4617720"/>
            <a:ext cx="2194560" cy="777240"/>
          </a:xfrm>
          <a:prstGeom prst="roundRect">
            <a:avLst>
              <a:gd name="adj" fmla="val 11765"/>
            </a:avLst>
          </a:prstGeom>
          <a:solidFill>
            <a:schemeClr val="accent5"/>
          </a:solidFill>
          <a:ln/>
        </p:spPr>
        <p:txBody>
          <a:bodyPr wrap="square" rtlCol="0" anchor="ctr"/>
          <a:lstStyle/>
          <a:p>
            <a:pPr marL="0" indent="0" algn="ctr">
              <a:buNone/>
            </a:pPr>
            <a:r>
              <a:rPr lang="en-US" sz="1600" b="1" dirty="0">
                <a:solidFill>
                  <a:schemeClr val="bg1"/>
                </a:solidFill>
              </a:rPr>
              <a:t>Notion</a:t>
            </a:r>
            <a:endParaRPr lang="en-US" sz="1600" dirty="0"/>
          </a:p>
        </p:txBody>
      </p:sp>
      <p:sp>
        <p:nvSpPr>
          <p:cNvPr id="10" name="svc-arrow-3"/>
          <p:cNvSpPr/>
          <p:nvPr/>
        </p:nvSpPr>
        <p:spPr>
          <a:xfrm flipV="1">
            <a:off x="2743200" y="3438144"/>
            <a:ext cx="822960" cy="1572768"/>
          </a:xfrm>
          <a:prstGeom prst="line">
            <a:avLst/>
          </a:prstGeom>
          <a:noFill/>
          <a:ln w="19050">
            <a:solidFill>
              <a:srgbClr val="9CA3AF"/>
            </a:solidFill>
            <a:prstDash val="solid"/>
            <a:tailEnd type="triangle"/>
          </a:ln>
        </p:spPr>
        <p:txBody>
          <a:bodyPr/>
          <a:lstStyle/>
          <a:p>
            <a:endParaRPr lang="en-CL"/>
          </a:p>
        </p:txBody>
      </p:sp>
      <p:sp>
        <p:nvSpPr>
          <p:cNvPr id="11" name="box-claude"/>
          <p:cNvSpPr txBox="1"/>
          <p:nvPr/>
        </p:nvSpPr>
        <p:spPr>
          <a:xfrm>
            <a:off x="3611880" y="2697480"/>
            <a:ext cx="2468880" cy="1463040"/>
          </a:xfrm>
          <a:prstGeom prst="roundRect">
            <a:avLst>
              <a:gd name="adj" fmla="val 6250"/>
            </a:avLst>
          </a:prstGeom>
          <a:solidFill>
            <a:schemeClr val="bg2"/>
          </a:solidFill>
          <a:ln w="12700">
            <a:solidFill>
              <a:srgbClr val="CBD2DD"/>
            </a:solidFill>
          </a:ln>
        </p:spPr>
        <p:txBody>
          <a:bodyPr wrap="square" lIns="101600" tIns="101600" rIns="101600" bIns="101600" rtlCol="0" anchor="ctr"/>
          <a:lstStyle/>
          <a:p>
            <a:pPr marL="0" indent="0" algn="ctr">
              <a:buNone/>
            </a:pPr>
            <a:r>
              <a:rPr lang="en-US" sz="1700" b="1" dirty="0">
                <a:solidFill>
                  <a:schemeClr val="tx2"/>
                </a:solidFill>
              </a:rPr>
              <a:t>Claude Code + MCP</a:t>
            </a:r>
            <a:endParaRPr lang="en-US" sz="1700" dirty="0"/>
          </a:p>
          <a:p>
            <a:pPr marL="0" indent="0" algn="ctr">
              <a:buNone/>
            </a:pPr>
            <a:r>
              <a:rPr lang="en-US" sz="1300" dirty="0">
                <a:solidFill>
                  <a:srgbClr val="4B5563"/>
                </a:solidFill>
              </a:rPr>
              <a:t>4 connections</a:t>
            </a:r>
            <a:endParaRPr lang="en-US" sz="1700" dirty="0"/>
          </a:p>
          <a:p>
            <a:pPr marL="0" indent="0" algn="ctr">
              <a:buNone/>
            </a:pPr>
            <a:r>
              <a:rPr lang="en-US" sz="1300" dirty="0">
                <a:solidFill>
                  <a:srgbClr val="4B5563"/>
                </a:solidFill>
              </a:rPr>
              <a:t>+ download-service-data skill</a:t>
            </a:r>
            <a:endParaRPr lang="en-US" sz="1700" dirty="0"/>
          </a:p>
        </p:txBody>
      </p:sp>
      <p:sp>
        <p:nvSpPr>
          <p:cNvPr id="12" name="box-data"/>
          <p:cNvSpPr txBox="1"/>
          <p:nvPr/>
        </p:nvSpPr>
        <p:spPr>
          <a:xfrm>
            <a:off x="6446520" y="2697480"/>
            <a:ext cx="2468880" cy="1463040"/>
          </a:xfrm>
          <a:prstGeom prst="roundRect">
            <a:avLst>
              <a:gd name="adj" fmla="val 6250"/>
            </a:avLst>
          </a:prstGeom>
          <a:solidFill>
            <a:schemeClr val="bg2"/>
          </a:solidFill>
          <a:ln w="12700">
            <a:solidFill>
              <a:srgbClr val="CBD2DD"/>
            </a:solidFill>
          </a:ln>
        </p:spPr>
        <p:txBody>
          <a:bodyPr wrap="square" lIns="101600" tIns="101600" rIns="101600" bIns="101600" rtlCol="0" anchor="ctr"/>
          <a:lstStyle/>
          <a:p>
            <a:pPr marL="0" indent="0" algn="ctr">
              <a:buNone/>
            </a:pPr>
            <a:r>
              <a:rPr lang="en-US" sz="1700" b="1" dirty="0">
                <a:solidFill>
                  <a:schemeClr val="tx2"/>
                </a:solidFill>
              </a:rPr>
              <a:t>dataExports/</a:t>
            </a:r>
            <a:endParaRPr lang="en-US" sz="1700" dirty="0"/>
          </a:p>
          <a:p>
            <a:pPr marL="0" indent="0" algn="ctr">
              <a:buNone/>
            </a:pPr>
            <a:r>
              <a:rPr lang="en-US" sz="1300" dirty="0">
                <a:solidFill>
                  <a:srgbClr val="4B5563"/>
                </a:solidFill>
              </a:rPr>
              <a:t>local files</a:t>
            </a:r>
            <a:endParaRPr lang="en-US" sz="1700" dirty="0"/>
          </a:p>
          <a:p>
            <a:pPr marL="0" indent="0" algn="ctr">
              <a:buNone/>
            </a:pPr>
            <a:r>
              <a:rPr lang="en-US" sz="1300" dirty="0">
                <a:solidFill>
                  <a:srgbClr val="4B5563"/>
                </a:solidFill>
              </a:rPr>
              <a:t>metadata.json + content</a:t>
            </a:r>
            <a:endParaRPr lang="en-US" sz="1700" dirty="0"/>
          </a:p>
          <a:p>
            <a:pPr marL="0" indent="0" algn="ctr">
              <a:buNone/>
            </a:pPr>
            <a:r>
              <a:rPr lang="en-US" sz="1300" dirty="0">
                <a:solidFill>
                  <a:srgbClr val="4B5563"/>
                </a:solidFill>
              </a:rPr>
              <a:t>index.json per service</a:t>
            </a:r>
            <a:endParaRPr lang="en-US" sz="1700" dirty="0"/>
          </a:p>
        </p:txBody>
      </p:sp>
      <p:sp>
        <p:nvSpPr>
          <p:cNvPr id="13" name="box-dash"/>
          <p:cNvSpPr txBox="1"/>
          <p:nvPr/>
        </p:nvSpPr>
        <p:spPr>
          <a:xfrm>
            <a:off x="9281160" y="2697480"/>
            <a:ext cx="2468880" cy="1463040"/>
          </a:xfrm>
          <a:prstGeom prst="roundRect">
            <a:avLst>
              <a:gd name="adj" fmla="val 6250"/>
            </a:avLst>
          </a:prstGeom>
          <a:solidFill>
            <a:schemeClr val="bg2"/>
          </a:solidFill>
          <a:ln w="12700">
            <a:solidFill>
              <a:srgbClr val="CBD2DD"/>
            </a:solidFill>
          </a:ln>
        </p:spPr>
        <p:txBody>
          <a:bodyPr wrap="square" lIns="101600" tIns="101600" rIns="101600" bIns="101600" rtlCol="0" anchor="ctr"/>
          <a:lstStyle/>
          <a:p>
            <a:pPr marL="0" indent="0" algn="ctr">
              <a:buNone/>
            </a:pPr>
            <a:r>
              <a:rPr lang="en-US" sz="1700" b="1" dirty="0">
                <a:solidFill>
                  <a:schemeClr val="tx2"/>
                </a:solidFill>
              </a:rPr>
              <a:t>Dashboard</a:t>
            </a:r>
            <a:endParaRPr lang="en-US" sz="1700" dirty="0"/>
          </a:p>
          <a:p>
            <a:pPr marL="0" indent="0" algn="ctr">
              <a:buNone/>
            </a:pPr>
            <a:r>
              <a:rPr lang="en-US" sz="1300" dirty="0">
                <a:solidFill>
                  <a:srgbClr val="4B5563"/>
                </a:solidFill>
              </a:rPr>
              <a:t>HTML/CSS/JS</a:t>
            </a:r>
            <a:endParaRPr lang="en-US" sz="1700" dirty="0"/>
          </a:p>
          <a:p>
            <a:pPr marL="0" indent="0" algn="ctr">
              <a:buNone/>
            </a:pPr>
            <a:r>
              <a:rPr lang="en-US" sz="1300" dirty="0">
                <a:solidFill>
                  <a:srgbClr val="4B5563"/>
                </a:solidFill>
              </a:rPr>
              <a:t>localhost:8000</a:t>
            </a:r>
            <a:endParaRPr lang="en-US" sz="1700" dirty="0"/>
          </a:p>
          <a:p>
            <a:pPr marL="0" indent="0" algn="ctr">
              <a:buNone/>
            </a:pPr>
            <a:r>
              <a:rPr lang="en-US" sz="1300" dirty="0">
                <a:solidFill>
                  <a:srgbClr val="4B5563"/>
                </a:solidFill>
              </a:rPr>
              <a:t>search all services</a:t>
            </a:r>
            <a:endParaRPr lang="en-US" sz="1700" dirty="0"/>
          </a:p>
        </p:txBody>
      </p:sp>
      <p:sp>
        <p:nvSpPr>
          <p:cNvPr id="14" name="arrow-1"/>
          <p:cNvSpPr/>
          <p:nvPr/>
        </p:nvSpPr>
        <p:spPr>
          <a:xfrm>
            <a:off x="6080760" y="3429000"/>
            <a:ext cx="365760" cy="0"/>
          </a:xfrm>
          <a:prstGeom prst="line">
            <a:avLst/>
          </a:prstGeom>
          <a:noFill/>
          <a:ln w="31750">
            <a:solidFill>
              <a:schemeClr val="accent1"/>
            </a:solidFill>
            <a:prstDash val="solid"/>
            <a:tailEnd type="triangle"/>
          </a:ln>
        </p:spPr>
        <p:txBody>
          <a:bodyPr/>
          <a:lstStyle/>
          <a:p>
            <a:endParaRPr lang="en-CL"/>
          </a:p>
        </p:txBody>
      </p:sp>
      <p:sp>
        <p:nvSpPr>
          <p:cNvPr id="15" name="arrow-2"/>
          <p:cNvSpPr/>
          <p:nvPr/>
        </p:nvSpPr>
        <p:spPr>
          <a:xfrm>
            <a:off x="8915400" y="3429000"/>
            <a:ext cx="365760" cy="0"/>
          </a:xfrm>
          <a:prstGeom prst="line">
            <a:avLst/>
          </a:prstGeom>
          <a:noFill/>
          <a:ln w="31750">
            <a:solidFill>
              <a:schemeClr val="accent1"/>
            </a:solidFill>
            <a:prstDash val="solid"/>
            <a:tailEnd type="triangle"/>
          </a:ln>
        </p:spPr>
        <p:txBody>
          <a:bodyPr/>
          <a:lstStyle/>
          <a:p>
            <a:endParaRPr lang="en-CL"/>
          </a:p>
        </p:txBody>
      </p:sp>
      <p:sp>
        <p:nvSpPr>
          <p:cNvPr id="16" name="arch-note"/>
          <p:cNvSpPr txBox="1"/>
          <p:nvPr/>
        </p:nvSpPr>
        <p:spPr>
          <a:xfrm>
            <a:off x="3611880" y="4754880"/>
            <a:ext cx="8138160" cy="822960"/>
          </a:xfrm>
          <a:prstGeom prst="rect">
            <a:avLst/>
          </a:prstGeom>
          <a:noFill/>
          <a:ln/>
        </p:spPr>
        <p:txBody>
          <a:bodyPr wrap="square" lIns="0" tIns="0" rIns="0" bIns="0" rtlCol="0" anchor="t"/>
          <a:lstStyle/>
          <a:p>
            <a:pPr marL="0" indent="0">
              <a:buNone/>
            </a:pPr>
            <a:r>
              <a:rPr lang="en-US" sz="1500" i="1" dirty="0">
                <a:solidFill>
                  <a:schemeClr val="tx1"/>
                </a:solidFill>
              </a:rPr>
              <a:t>Downloads are read-only. The dashboard never calls the services — it only reads the local files.</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Four services, four MCP connections</a:t>
            </a:r>
            <a:endParaRPr lang="en-US" sz="3200" dirty="0"/>
          </a:p>
        </p:txBody>
      </p:sp>
      <p:graphicFrame>
        <p:nvGraphicFramePr>
          <p:cNvPr id="4" name="services-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2286000"/>
        </p:xfrm>
        <a:graphic>
          <a:graphicData uri="http://schemas.openxmlformats.org/drawingml/2006/table">
            <a:tbl>
              <a:tblPr/>
              <a:tblGrid>
                <a:gridCol w="201168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457200">
                <a:tc>
                  <a:txBody>
                    <a:bodyPr/>
                    <a:lstStyle/>
                    <a:p>
                      <a:pPr marL="0" indent="0">
                        <a:buNone/>
                      </a:pPr>
                      <a:r>
                        <a:rPr lang="en-US" sz="1300" b="1" dirty="0">
                          <a:solidFill>
                            <a:schemeClr val="bg1"/>
                          </a:solidFill>
                        </a:rPr>
                        <a:t>Service</a:t>
                      </a:r>
                      <a:endParaRPr lang="en-US" sz="1300" dirty="0"/>
                    </a:p>
                  </a:txBody>
                  <a:tcPr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MCP server</a:t>
                      </a:r>
                      <a:endParaRPr lang="en-US" sz="1300" dirty="0"/>
                    </a:p>
                  </a:txBody>
                  <a:tcPr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Account / scope</a:t>
                      </a:r>
                      <a:endParaRPr lang="en-US" sz="1300" dirty="0"/>
                    </a:p>
                  </a:txBody>
                  <a:tcPr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Configured in</a:t>
                      </a:r>
                      <a:endParaRPr lang="en-US" sz="1300" dirty="0"/>
                    </a:p>
                  </a:txBody>
                  <a:tcPr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buNone/>
                      </a:pPr>
                      <a:r>
                        <a:rPr lang="en-US" sz="1300" dirty="0">
                          <a:solidFill>
                            <a:schemeClr val="tx1"/>
                          </a:solidFill>
                        </a:rPr>
                        <a:t>Notion</a:t>
                      </a:r>
                      <a:endParaRPr lang="en-US" sz="1300" dirty="0"/>
                    </a:p>
                  </a:txBody>
                  <a:tcPr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Official Notion MCP (mcp.notion.com)</a:t>
                      </a:r>
                      <a:endParaRPr lang="en-US" sz="1300" dirty="0"/>
                    </a:p>
                  </a:txBody>
                  <a:tcPr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Workspace created for this project</a:t>
                      </a:r>
                      <a:endParaRPr lang="en-US" sz="1300" dirty="0"/>
                    </a:p>
                  </a:txBody>
                  <a:tcPr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.mcp.json</a:t>
                      </a:r>
                      <a:endParaRPr lang="en-US" sz="1300" dirty="0"/>
                    </a:p>
                  </a:txBody>
                  <a:tcPr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57200">
                <a:tc>
                  <a:txBody>
                    <a:bodyPr/>
                    <a:lstStyle/>
                    <a:p>
                      <a:pPr marL="0" indent="0">
                        <a:buNone/>
                      </a:pPr>
                      <a:r>
                        <a:rPr lang="en-US" sz="1300" dirty="0">
                          <a:solidFill>
                            <a:schemeClr val="tx1"/>
                          </a:solidFill>
                        </a:rPr>
                        <a:t>GitHub</a:t>
                      </a:r>
                      <a:endParaRPr lang="en-US" sz="1300" dirty="0"/>
                    </a:p>
                  </a:txBody>
                  <a:tcPr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Official GitHub MCP (api.githubcopilot.com)</a:t>
                      </a:r>
                      <a:endParaRPr lang="en-US" sz="1300" dirty="0"/>
                    </a:p>
                  </a:txBody>
                  <a:tcPr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Org sruly-hw2-test, fine-grained token</a:t>
                      </a:r>
                      <a:endParaRPr lang="en-US" sz="1300" dirty="0"/>
                    </a:p>
                  </a:txBody>
                  <a:tcPr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.mcp.json (token via env var)</a:t>
                      </a:r>
                      <a:endParaRPr lang="en-US" sz="1300" dirty="0"/>
                    </a:p>
                  </a:txBody>
                  <a:tcPr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57200">
                <a:tc>
                  <a:txBody>
                    <a:bodyPr/>
                    <a:lstStyle/>
                    <a:p>
                      <a:pPr marL="0" indent="0">
                        <a:buNone/>
                      </a:pPr>
                      <a:r>
                        <a:rPr lang="en-US" sz="1300" dirty="0">
                          <a:solidFill>
                            <a:schemeClr val="tx1"/>
                          </a:solidFill>
                        </a:rPr>
                        <a:t>Gmail</a:t>
                      </a:r>
                      <a:endParaRPr lang="en-US" sz="1300" dirty="0"/>
                    </a:p>
                  </a:txBody>
                  <a:tcPr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Claude.ai Gmail connector</a:t>
                      </a:r>
                      <a:endParaRPr lang="en-US" sz="1300" dirty="0"/>
                    </a:p>
                  </a:txBody>
                  <a:tcPr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Test account israelpollak41@gmail.com</a:t>
                      </a:r>
                      <a:endParaRPr lang="en-US" sz="1300" dirty="0"/>
                    </a:p>
                  </a:txBody>
                  <a:tcPr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Claude.ai account</a:t>
                      </a:r>
                      <a:endParaRPr lang="en-US" sz="1300" dirty="0"/>
                    </a:p>
                  </a:txBody>
                  <a:tcPr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57200">
                <a:tc>
                  <a:txBody>
                    <a:bodyPr/>
                    <a:lstStyle/>
                    <a:p>
                      <a:pPr marL="0" indent="0">
                        <a:buNone/>
                      </a:pPr>
                      <a:r>
                        <a:rPr lang="en-US" sz="1300" dirty="0">
                          <a:solidFill>
                            <a:schemeClr val="tx1"/>
                          </a:solidFill>
                        </a:rPr>
                        <a:t>Google Calendar (extra)</a:t>
                      </a:r>
                      <a:endParaRPr lang="en-US" sz="1300" dirty="0"/>
                    </a:p>
                  </a:txBody>
                  <a:tcPr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Claude.ai Google Calendar connector</a:t>
                      </a:r>
                      <a:endParaRPr lang="en-US" sz="1300" dirty="0"/>
                    </a:p>
                  </a:txBody>
                  <a:tcPr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Same test account</a:t>
                      </a:r>
                      <a:endParaRPr lang="en-US" sz="1300" dirty="0"/>
                    </a:p>
                  </a:txBody>
                  <a:tcPr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Claude.ai account</a:t>
                      </a:r>
                      <a:endParaRPr lang="en-US" sz="1300" dirty="0"/>
                    </a:p>
                  </a:txBody>
                  <a:tcPr anchor="ctr">
                    <a:lnL w="9525" cap="flat" cmpd="sng" algn="ctr">
                      <a:solidFill>
                        <a:srgbClr val="D1D5DB"/>
                      </a:solidFill>
                      <a:prstDash val="solid"/>
                      <a:round/>
                      <a:headEnd type="none" w="med" len="med"/>
                      <a:tailEnd type="none" w="med" len="med"/>
                    </a:lnL>
                    <a:lnR w="9525" cap="flat" cmpd="sng" algn="ctr">
                      <a:solidFill>
                        <a:srgbClr val="D1D5DB"/>
                      </a:solidFill>
                      <a:prstDash val="solid"/>
                      <a:round/>
                      <a:headEnd type="none" w="med" len="med"/>
                      <a:tailEnd type="none" w="med" len="med"/>
                    </a:lnR>
                    <a:lnT w="9525" cap="flat" cmpd="sng" algn="ctr">
                      <a:solidFill>
                        <a:srgbClr val="D1D5DB"/>
                      </a:solidFill>
                      <a:prstDash val="solid"/>
                      <a:round/>
                      <a:headEnd type="none" w="med" len="med"/>
                      <a:tailEnd type="none" w="med" len="med"/>
                    </a:lnT>
                    <a:lnB w="9525" cap="flat" cmpd="sng" algn="ctr">
                      <a:solidFill>
                        <a:srgbClr val="D1D5DB"/>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3" name="google-callout"/>
          <p:cNvSpPr txBox="1"/>
          <p:nvPr/>
        </p:nvSpPr>
        <p:spPr>
          <a:xfrm>
            <a:off x="548640" y="3977640"/>
            <a:ext cx="11064240" cy="1325880"/>
          </a:xfrm>
          <a:prstGeom prst="roundRect">
            <a:avLst>
              <a:gd name="adj" fmla="val 5517"/>
            </a:avLst>
          </a:prstGeom>
          <a:solidFill>
            <a:schemeClr val="bg2"/>
          </a:solidFill>
          <a:ln/>
        </p:spPr>
        <p:txBody>
          <a:bodyPr wrap="square" lIns="152400" tIns="152400" rIns="152400" bIns="152400" rtlCol="0" anchor="t"/>
          <a:lstStyle/>
          <a:p>
            <a:pPr marL="0" indent="0">
              <a:buNone/>
            </a:pPr>
            <a:r>
              <a:rPr lang="en-US" sz="1400" b="1" dirty="0">
                <a:solidFill>
                  <a:schemeClr val="tx2"/>
                </a:solidFill>
              </a:rPr>
              <a:t>Why Gmail and Calendar are not in .mcp.json</a:t>
            </a:r>
            <a:endParaRPr lang="en-US" sz="1400" dirty="0"/>
          </a:p>
          <a:p>
            <a:pPr marL="0" indent="0">
              <a:buNone/>
            </a:pPr>
            <a:r>
              <a:rPr lang="en-US" sz="1400" dirty="0">
                <a:solidFill>
                  <a:schemeClr val="tx1"/>
                </a:solidFill>
              </a:rPr>
              <a:t>Google's official Gmail/Calendar MCP servers connected, but every tool call failed: the Google Cloud project must be enrolled in the Workspace Developer Preview Program (Workspace accounts only). With the professor's OK, they run through the Claude.ai connectors instead, which live in the Claude account, not in the project.</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Realistic test data with one shared story</a:t>
            </a:r>
            <a:endParaRPr lang="en-US" sz="3200" dirty="0"/>
          </a:p>
        </p:txBody>
      </p:sp>
      <p:sp>
        <p:nvSpPr>
          <p:cNvPr id="3" name="story"/>
          <p:cNvSpPr txBox="1"/>
          <p:nvPr/>
        </p:nvSpPr>
        <p:spPr>
          <a:xfrm>
            <a:off x="548640" y="1280160"/>
            <a:ext cx="5120640" cy="1188720"/>
          </a:xfrm>
          <a:prstGeom prst="rect">
            <a:avLst/>
          </a:prstGeom>
          <a:noFill/>
          <a:ln/>
        </p:spPr>
        <p:txBody>
          <a:bodyPr wrap="square" lIns="0" tIns="0" rIns="0" bIns="0" rtlCol="0" anchor="t"/>
          <a:lstStyle/>
          <a:p>
            <a:pPr marL="0" indent="0">
              <a:buNone/>
            </a:pPr>
            <a:r>
              <a:rPr lang="en-US" sz="1500" b="1" dirty="0">
                <a:solidFill>
                  <a:schemeClr val="tx2"/>
                </a:solidFill>
              </a:rPr>
              <a:t>Quillfeather Capital</a:t>
            </a:r>
            <a:endParaRPr lang="en-US" sz="1500" dirty="0"/>
          </a:p>
          <a:p>
            <a:pPr marL="0" indent="0">
              <a:buNone/>
            </a:pPr>
            <a:r>
              <a:rPr lang="en-US" sz="1500" dirty="0">
                <a:solidFill>
                  <a:schemeClr val="tx1"/>
                </a:solidFill>
              </a:rPr>
              <a:t>A fictional fixed-income firm building DuraLens, a duration/convexity tool, for its client Bayview Teachers Pension Fund (Q4 rebalance).</a:t>
            </a:r>
            <a:endParaRPr lang="en-US" sz="1500" dirty="0"/>
          </a:p>
        </p:txBody>
      </p:sp>
      <p:sp>
        <p:nvSpPr>
          <p:cNvPr id="4" name="person-0"/>
          <p:cNvSpPr txBox="1"/>
          <p:nvPr/>
        </p:nvSpPr>
        <p:spPr>
          <a:xfrm>
            <a:off x="548640" y="2606040"/>
            <a:ext cx="5120640" cy="603504"/>
          </a:xfrm>
          <a:prstGeom prst="roundRect">
            <a:avLst>
              <a:gd name="adj" fmla="val 12121"/>
            </a:avLst>
          </a:prstGeom>
          <a:solidFill>
            <a:schemeClr val="bg2"/>
          </a:solidFill>
          <a:ln/>
        </p:spPr>
        <p:txBody>
          <a:bodyPr wrap="square" lIns="127000" tIns="127000" rIns="127000" bIns="127000" rtlCol="0" anchor="ctr"/>
          <a:lstStyle/>
          <a:p>
            <a:pPr marL="0" indent="0">
              <a:buNone/>
            </a:pPr>
            <a:r>
              <a:rPr lang="en-US" sz="1400" b="1" dirty="0">
                <a:solidFill>
                  <a:schemeClr val="tx2"/>
                </a:solidFill>
              </a:rPr>
              <a:t>Joe Smith</a:t>
            </a:r>
            <a:endParaRPr lang="en-US" sz="1400" dirty="0"/>
          </a:p>
          <a:p>
            <a:pPr marL="0" indent="0">
              <a:buNone/>
            </a:pPr>
            <a:r>
              <a:rPr lang="en-US" sz="1200" dirty="0">
                <a:solidFill>
                  <a:srgbClr val="4B5563"/>
                </a:solidFill>
              </a:rPr>
              <a:t>Portfolio Manager</a:t>
            </a:r>
            <a:endParaRPr lang="en-US" sz="1400" dirty="0"/>
          </a:p>
        </p:txBody>
      </p:sp>
      <p:sp>
        <p:nvSpPr>
          <p:cNvPr id="5" name="person-1"/>
          <p:cNvSpPr txBox="1"/>
          <p:nvPr/>
        </p:nvSpPr>
        <p:spPr>
          <a:xfrm>
            <a:off x="548640" y="3319272"/>
            <a:ext cx="5120640" cy="603504"/>
          </a:xfrm>
          <a:prstGeom prst="roundRect">
            <a:avLst>
              <a:gd name="adj" fmla="val 12121"/>
            </a:avLst>
          </a:prstGeom>
          <a:solidFill>
            <a:schemeClr val="bg2"/>
          </a:solidFill>
          <a:ln/>
        </p:spPr>
        <p:txBody>
          <a:bodyPr wrap="square" lIns="127000" tIns="127000" rIns="127000" bIns="127000" rtlCol="0" anchor="ctr"/>
          <a:lstStyle/>
          <a:p>
            <a:pPr marL="0" indent="0">
              <a:buNone/>
            </a:pPr>
            <a:r>
              <a:rPr lang="en-US" sz="1400" b="1" dirty="0">
                <a:solidFill>
                  <a:schemeClr val="tx2"/>
                </a:solidFill>
              </a:rPr>
              <a:t>Maria Delgado</a:t>
            </a:r>
            <a:endParaRPr lang="en-US" sz="1400" dirty="0"/>
          </a:p>
          <a:p>
            <a:pPr marL="0" indent="0">
              <a:buNone/>
            </a:pPr>
            <a:r>
              <a:rPr lang="en-US" sz="1200" dirty="0">
                <a:solidFill>
                  <a:srgbClr val="4B5563"/>
                </a:solidFill>
              </a:rPr>
              <a:t>Quant analyst</a:t>
            </a:r>
            <a:endParaRPr lang="en-US" sz="1400" dirty="0"/>
          </a:p>
        </p:txBody>
      </p:sp>
      <p:sp>
        <p:nvSpPr>
          <p:cNvPr id="6" name="person-2"/>
          <p:cNvSpPr txBox="1"/>
          <p:nvPr/>
        </p:nvSpPr>
        <p:spPr>
          <a:xfrm>
            <a:off x="548640" y="4032504"/>
            <a:ext cx="5120640" cy="603504"/>
          </a:xfrm>
          <a:prstGeom prst="roundRect">
            <a:avLst>
              <a:gd name="adj" fmla="val 12121"/>
            </a:avLst>
          </a:prstGeom>
          <a:solidFill>
            <a:schemeClr val="bg2"/>
          </a:solidFill>
          <a:ln/>
        </p:spPr>
        <p:txBody>
          <a:bodyPr wrap="square" lIns="127000" tIns="127000" rIns="127000" bIns="127000" rtlCol="0" anchor="ctr"/>
          <a:lstStyle/>
          <a:p>
            <a:pPr marL="0" indent="0">
              <a:buNone/>
            </a:pPr>
            <a:r>
              <a:rPr lang="en-US" sz="1400" b="1" dirty="0">
                <a:solidFill>
                  <a:schemeClr val="tx2"/>
                </a:solidFill>
              </a:rPr>
              <a:t>Priya Natarajan</a:t>
            </a:r>
            <a:endParaRPr lang="en-US" sz="1400" dirty="0"/>
          </a:p>
          <a:p>
            <a:pPr marL="0" indent="0">
              <a:buNone/>
            </a:pPr>
            <a:r>
              <a:rPr lang="en-US" sz="1200" dirty="0">
                <a:solidFill>
                  <a:srgbClr val="4B5563"/>
                </a:solidFill>
              </a:rPr>
              <a:t>DuraLens developer</a:t>
            </a:r>
            <a:endParaRPr lang="en-US" sz="1400" dirty="0"/>
          </a:p>
        </p:txBody>
      </p:sp>
      <p:sp>
        <p:nvSpPr>
          <p:cNvPr id="7" name="person-3"/>
          <p:cNvSpPr txBox="1"/>
          <p:nvPr/>
        </p:nvSpPr>
        <p:spPr>
          <a:xfrm>
            <a:off x="548640" y="4745736"/>
            <a:ext cx="5120640" cy="603504"/>
          </a:xfrm>
          <a:prstGeom prst="roundRect">
            <a:avLst>
              <a:gd name="adj" fmla="val 12121"/>
            </a:avLst>
          </a:prstGeom>
          <a:solidFill>
            <a:schemeClr val="bg2"/>
          </a:solidFill>
          <a:ln/>
        </p:spPr>
        <p:txBody>
          <a:bodyPr wrap="square" lIns="127000" tIns="127000" rIns="127000" bIns="127000" rtlCol="0" anchor="ctr"/>
          <a:lstStyle/>
          <a:p>
            <a:pPr marL="0" indent="0">
              <a:buNone/>
            </a:pPr>
            <a:r>
              <a:rPr lang="en-US" sz="1400" b="1" dirty="0">
                <a:solidFill>
                  <a:schemeClr val="tx2"/>
                </a:solidFill>
              </a:rPr>
              <a:t>Daniel Okafor</a:t>
            </a:r>
            <a:endParaRPr lang="en-US" sz="1400" dirty="0"/>
          </a:p>
          <a:p>
            <a:pPr marL="0" indent="0">
              <a:buNone/>
            </a:pPr>
            <a:r>
              <a:rPr lang="en-US" sz="1200" dirty="0">
                <a:solidFill>
                  <a:srgbClr val="4B5563"/>
                </a:solidFill>
              </a:rPr>
              <a:t>Risk manager</a:t>
            </a:r>
            <a:endParaRPr lang="en-US" sz="1400" dirty="0"/>
          </a:p>
        </p:txBody>
      </p:sp>
      <p:sp>
        <p:nvSpPr>
          <p:cNvPr id="8" name="person-4"/>
          <p:cNvSpPr txBox="1"/>
          <p:nvPr/>
        </p:nvSpPr>
        <p:spPr>
          <a:xfrm>
            <a:off x="548640" y="5458968"/>
            <a:ext cx="5120640" cy="603504"/>
          </a:xfrm>
          <a:prstGeom prst="roundRect">
            <a:avLst>
              <a:gd name="adj" fmla="val 12121"/>
            </a:avLst>
          </a:prstGeom>
          <a:solidFill>
            <a:schemeClr val="bg2"/>
          </a:solidFill>
          <a:ln/>
        </p:spPr>
        <p:txBody>
          <a:bodyPr wrap="square" lIns="127000" tIns="127000" rIns="127000" bIns="127000" rtlCol="0" anchor="ctr"/>
          <a:lstStyle/>
          <a:p>
            <a:pPr marL="0" indent="0">
              <a:buNone/>
            </a:pPr>
            <a:r>
              <a:rPr lang="en-US" sz="1400" b="1" dirty="0">
                <a:solidFill>
                  <a:schemeClr val="tx2"/>
                </a:solidFill>
              </a:rPr>
              <a:t>Rachel Stein</a:t>
            </a:r>
            <a:endParaRPr lang="en-US" sz="1400" dirty="0"/>
          </a:p>
          <a:p>
            <a:pPr marL="0" indent="0">
              <a:buNone/>
            </a:pPr>
            <a:r>
              <a:rPr lang="en-US" sz="1200" dirty="0">
                <a:solidFill>
                  <a:srgbClr val="4B5563"/>
                </a:solidFill>
              </a:rPr>
              <a:t>Client CIO (Bayview)</a:t>
            </a:r>
            <a:endParaRPr lang="en-US" sz="1400" dirty="0"/>
          </a:p>
        </p:txBody>
      </p:sp>
      <p:sp>
        <p:nvSpPr>
          <p:cNvPr id="9" name="stat-0"/>
          <p:cNvSpPr txBox="1"/>
          <p:nvPr/>
        </p:nvSpPr>
        <p:spPr>
          <a:xfrm>
            <a:off x="6217920" y="1371600"/>
            <a:ext cx="2560320" cy="1737360"/>
          </a:xfrm>
          <a:prstGeom prst="rect">
            <a:avLst/>
          </a:prstGeom>
          <a:noFill/>
          <a:ln/>
        </p:spPr>
        <p:txBody>
          <a:bodyPr wrap="square" lIns="0" tIns="0" rIns="0" bIns="0" rtlCol="0" anchor="ctr"/>
          <a:lstStyle/>
          <a:p>
            <a:pPr marL="0" indent="0" algn="l">
              <a:buNone/>
            </a:pPr>
            <a:r>
              <a:rPr lang="en-US" sz="4800" b="1" dirty="0">
                <a:solidFill>
                  <a:schemeClr val="accent2"/>
                </a:solidFill>
                <a:latin typeface="Cambria" pitchFamily="34" charset="0"/>
                <a:ea typeface="Cambria" pitchFamily="34" charset="-122"/>
                <a:cs typeface="Cambria" pitchFamily="34" charset="-120"/>
              </a:rPr>
              <a:t>12</a:t>
            </a:r>
            <a:endParaRPr lang="en-US" sz="4800" dirty="0"/>
          </a:p>
          <a:p>
            <a:pPr marL="0" indent="0" algn="l">
              <a:buNone/>
            </a:pPr>
            <a:r>
              <a:rPr lang="en-US" sz="1400" dirty="0">
                <a:solidFill>
                  <a:srgbClr val="4B5563"/>
                </a:solidFill>
              </a:rPr>
              <a:t>emails</a:t>
            </a:r>
            <a:endParaRPr lang="en-US" sz="4800" dirty="0"/>
          </a:p>
        </p:txBody>
      </p:sp>
      <p:sp>
        <p:nvSpPr>
          <p:cNvPr id="10" name="stat-1"/>
          <p:cNvSpPr txBox="1"/>
          <p:nvPr/>
        </p:nvSpPr>
        <p:spPr>
          <a:xfrm>
            <a:off x="8961120" y="1371600"/>
            <a:ext cx="2560320" cy="1737360"/>
          </a:xfrm>
          <a:prstGeom prst="rect">
            <a:avLst/>
          </a:prstGeom>
          <a:noFill/>
          <a:ln/>
        </p:spPr>
        <p:txBody>
          <a:bodyPr wrap="square" lIns="0" tIns="0" rIns="0" bIns="0" rtlCol="0" anchor="ctr"/>
          <a:lstStyle/>
          <a:p>
            <a:pPr marL="0" indent="0" algn="l">
              <a:buNone/>
            </a:pPr>
            <a:r>
              <a:rPr lang="en-US" sz="4800" b="1" dirty="0">
                <a:solidFill>
                  <a:schemeClr val="accent3"/>
                </a:solidFill>
                <a:latin typeface="Cambria" pitchFamily="34" charset="0"/>
                <a:ea typeface="Cambria" pitchFamily="34" charset="-122"/>
                <a:cs typeface="Cambria" pitchFamily="34" charset="-120"/>
              </a:rPr>
              <a:t>12</a:t>
            </a:r>
            <a:endParaRPr lang="en-US" sz="4800" dirty="0"/>
          </a:p>
          <a:p>
            <a:pPr marL="0" indent="0" algn="l">
              <a:buNone/>
            </a:pPr>
            <a:r>
              <a:rPr lang="en-US" sz="1400" dirty="0">
                <a:solidFill>
                  <a:srgbClr val="4B5563"/>
                </a:solidFill>
              </a:rPr>
              <a:t>calendar events</a:t>
            </a:r>
            <a:endParaRPr lang="en-US" sz="4800" dirty="0"/>
          </a:p>
        </p:txBody>
      </p:sp>
      <p:sp>
        <p:nvSpPr>
          <p:cNvPr id="11" name="stat-2"/>
          <p:cNvSpPr txBox="1"/>
          <p:nvPr/>
        </p:nvSpPr>
        <p:spPr>
          <a:xfrm>
            <a:off x="6217920" y="3383280"/>
            <a:ext cx="2560320" cy="1737360"/>
          </a:xfrm>
          <a:prstGeom prst="rect">
            <a:avLst/>
          </a:prstGeom>
          <a:noFill/>
          <a:ln/>
        </p:spPr>
        <p:txBody>
          <a:bodyPr wrap="square" lIns="0" tIns="0" rIns="0" bIns="0" rtlCol="0" anchor="ctr"/>
          <a:lstStyle/>
          <a:p>
            <a:pPr marL="0" indent="0" algn="l">
              <a:buNone/>
            </a:pPr>
            <a:r>
              <a:rPr lang="en-US" sz="4800" b="1" dirty="0">
                <a:solidFill>
                  <a:schemeClr val="accent4"/>
                </a:solidFill>
                <a:latin typeface="Cambria" pitchFamily="34" charset="0"/>
                <a:ea typeface="Cambria" pitchFamily="34" charset="-122"/>
                <a:cs typeface="Cambria" pitchFamily="34" charset="-120"/>
              </a:rPr>
              <a:t>10 + 9</a:t>
            </a:r>
            <a:endParaRPr lang="en-US" sz="4800" dirty="0"/>
          </a:p>
          <a:p>
            <a:pPr marL="0" indent="0" algn="l">
              <a:buNone/>
            </a:pPr>
            <a:r>
              <a:rPr lang="en-US" sz="1400" dirty="0">
                <a:solidFill>
                  <a:srgbClr val="4B5563"/>
                </a:solidFill>
              </a:rPr>
              <a:t>repos + issues</a:t>
            </a:r>
            <a:endParaRPr lang="en-US" sz="4800" dirty="0"/>
          </a:p>
        </p:txBody>
      </p:sp>
      <p:sp>
        <p:nvSpPr>
          <p:cNvPr id="12" name="stat-3"/>
          <p:cNvSpPr txBox="1"/>
          <p:nvPr/>
        </p:nvSpPr>
        <p:spPr>
          <a:xfrm>
            <a:off x="8961120" y="3383280"/>
            <a:ext cx="2560320" cy="1737360"/>
          </a:xfrm>
          <a:prstGeom prst="rect">
            <a:avLst/>
          </a:prstGeom>
          <a:noFill/>
          <a:ln/>
        </p:spPr>
        <p:txBody>
          <a:bodyPr wrap="square" lIns="0" tIns="0" rIns="0" bIns="0" rtlCol="0" anchor="ctr"/>
          <a:lstStyle/>
          <a:p>
            <a:pPr marL="0" indent="0" algn="l">
              <a:buNone/>
            </a:pPr>
            <a:r>
              <a:rPr lang="en-US" sz="4800" b="1" dirty="0">
                <a:solidFill>
                  <a:schemeClr val="accent5"/>
                </a:solidFill>
                <a:latin typeface="Cambria" pitchFamily="34" charset="0"/>
                <a:ea typeface="Cambria" pitchFamily="34" charset="-122"/>
                <a:cs typeface="Cambria" pitchFamily="34" charset="-120"/>
              </a:rPr>
              <a:t>12</a:t>
            </a:r>
            <a:endParaRPr lang="en-US" sz="4800" dirty="0"/>
          </a:p>
          <a:p>
            <a:pPr marL="0" indent="0" algn="l">
              <a:buNone/>
            </a:pPr>
            <a:r>
              <a:rPr lang="en-US" sz="1400" dirty="0">
                <a:solidFill>
                  <a:srgbClr val="4B5563"/>
                </a:solidFill>
              </a:rPr>
              <a:t>Notion pages</a:t>
            </a:r>
            <a:endParaRPr lang="en-US" sz="4800" dirty="0"/>
          </a:p>
        </p:txBody>
      </p:sp>
      <p:sp>
        <p:nvSpPr>
          <p:cNvPr id="13" name="data-note"/>
          <p:cNvSpPr txBox="1"/>
          <p:nvPr/>
        </p:nvSpPr>
        <p:spPr>
          <a:xfrm>
            <a:off x="6217920" y="5486400"/>
            <a:ext cx="5394960" cy="685800"/>
          </a:xfrm>
          <a:prstGeom prst="rect">
            <a:avLst/>
          </a:prstGeom>
          <a:noFill/>
          <a:ln/>
        </p:spPr>
        <p:txBody>
          <a:bodyPr wrap="square" lIns="0" tIns="0" rIns="0" bIns="0" rtlCol="0" anchor="ctr"/>
          <a:lstStyle/>
          <a:p>
            <a:pPr marL="0" indent="0">
              <a:buNone/>
            </a:pPr>
            <a:r>
              <a:rPr lang="en-US" sz="1400" i="1" dirty="0">
                <a:solidFill>
                  <a:schemeClr val="tx1"/>
                </a:solidFill>
              </a:rPr>
              <a:t>The same names and topics appear in every service, so one search finds related items everywhere.</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The storage format was designed first</a:t>
            </a:r>
            <a:endParaRPr lang="en-US" sz="3200" dirty="0"/>
          </a:p>
        </p:txBody>
      </p:sp>
      <p:sp>
        <p:nvSpPr>
          <p:cNvPr id="3" name="tree"/>
          <p:cNvSpPr txBox="1"/>
          <p:nvPr/>
        </p:nvSpPr>
        <p:spPr>
          <a:xfrm>
            <a:off x="548640" y="1325880"/>
            <a:ext cx="6400800" cy="2651760"/>
          </a:xfrm>
          <a:prstGeom prst="roundRect">
            <a:avLst>
              <a:gd name="adj" fmla="val 2759"/>
            </a:avLst>
          </a:prstGeom>
          <a:solidFill>
            <a:schemeClr val="bg2"/>
          </a:solidFill>
          <a:ln/>
        </p:spPr>
        <p:txBody>
          <a:bodyPr wrap="square" lIns="177800" tIns="177800" rIns="177800" bIns="177800" rtlCol="0" anchor="t"/>
          <a:lstStyle/>
          <a:p>
            <a:pPr marL="0" indent="0">
              <a:buNone/>
            </a:pPr>
            <a:r>
              <a:rPr lang="en-US" sz="1200" dirty="0">
                <a:solidFill>
                  <a:schemeClr val="tx1"/>
                </a:solidFill>
                <a:latin typeface="Courier New" pitchFamily="34" charset="0"/>
                <a:ea typeface="Courier New" pitchFamily="34" charset="-122"/>
                <a:cs typeface="Courier New" pitchFamily="34" charset="-120"/>
              </a:rPr>
              <a:t>dataExports/</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gmail/</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 index.json</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 2026-10-16T0351Z_approved-bayview-trades-step-1-10y/</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 metadata.json</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 body.txt</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calendar/   …/metadata.json + description.txt</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github/     &lt;repo&gt;/ metadata.json, README.md, issues/</a:t>
            </a:r>
            <a:endParaRPr lang="en-US" sz="1200" dirty="0"/>
          </a:p>
          <a:p>
            <a:pPr marL="0" indent="0">
              <a:buNone/>
            </a:pPr>
            <a:r>
              <a:rPr lang="en-US" sz="1200" dirty="0">
                <a:solidFill>
                  <a:schemeClr val="tx1"/>
                </a:solidFill>
                <a:latin typeface="Courier New" pitchFamily="34" charset="0"/>
                <a:ea typeface="Courier New" pitchFamily="34" charset="-122"/>
                <a:cs typeface="Courier New" pitchFamily="34" charset="-120"/>
              </a:rPr>
              <a:t>└── notion/     &lt;page&gt;/metadata.json + content.md</a:t>
            </a:r>
            <a:endParaRPr lang="en-US" sz="1200" dirty="0"/>
          </a:p>
        </p:txBody>
      </p:sp>
      <p:sp>
        <p:nvSpPr>
          <p:cNvPr id="4" name="spec-note"/>
          <p:cNvSpPr txBox="1"/>
          <p:nvPr/>
        </p:nvSpPr>
        <p:spPr>
          <a:xfrm>
            <a:off x="548640" y="4160520"/>
            <a:ext cx="6400800" cy="457200"/>
          </a:xfrm>
          <a:prstGeom prst="rect">
            <a:avLst/>
          </a:prstGeom>
          <a:noFill/>
          <a:ln/>
        </p:spPr>
        <p:txBody>
          <a:bodyPr wrap="square" lIns="0" tIns="0" rIns="0" bIns="0" rtlCol="0" anchor="ctr"/>
          <a:lstStyle/>
          <a:p>
            <a:pPr marL="0" indent="0">
              <a:buNone/>
            </a:pPr>
            <a:r>
              <a:rPr lang="en-US" sz="1300" dirty="0">
                <a:solidFill>
                  <a:srgbClr val="4B5563"/>
                </a:solidFill>
              </a:rPr>
              <a:t>Specification: localStorageFormats.md  ·  one folder per item  ·  same pattern for all 4 services</a:t>
            </a:r>
            <a:endParaRPr lang="en-US" sz="1300" dirty="0"/>
          </a:p>
        </p:txBody>
      </p:sp>
      <p:sp>
        <p:nvSpPr>
          <p:cNvPr id="5" name="rule-dot-0"/>
          <p:cNvSpPr/>
          <p:nvPr/>
        </p:nvSpPr>
        <p:spPr>
          <a:xfrm>
            <a:off x="7360920" y="1417320"/>
            <a:ext cx="457200" cy="457200"/>
          </a:xfrm>
          <a:prstGeom prst="ellipse">
            <a:avLst/>
          </a:prstGeom>
          <a:solidFill>
            <a:schemeClr val="accent1"/>
          </a:solidFill>
          <a:ln/>
        </p:spPr>
        <p:txBody>
          <a:bodyPr/>
          <a:lstStyle/>
          <a:p>
            <a:endParaRPr lang="en-CL"/>
          </a:p>
        </p:txBody>
      </p:sp>
      <p:sp>
        <p:nvSpPr>
          <p:cNvPr id="6" name="rule-num-0"/>
          <p:cNvSpPr txBox="1"/>
          <p:nvPr/>
        </p:nvSpPr>
        <p:spPr>
          <a:xfrm>
            <a:off x="7360920" y="14173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rule-0"/>
          <p:cNvSpPr txBox="1"/>
          <p:nvPr/>
        </p:nvSpPr>
        <p:spPr>
          <a:xfrm>
            <a:off x="8001000" y="1325880"/>
            <a:ext cx="3611880" cy="1188720"/>
          </a:xfrm>
          <a:prstGeom prst="rect">
            <a:avLst/>
          </a:prstGeom>
          <a:noFill/>
          <a:ln/>
        </p:spPr>
        <p:txBody>
          <a:bodyPr wrap="square" lIns="0" tIns="0" rIns="0" bIns="0" rtlCol="0" anchor="t"/>
          <a:lstStyle/>
          <a:p>
            <a:pPr marL="0" indent="0">
              <a:buNone/>
            </a:pPr>
            <a:r>
              <a:rPr lang="en-US" sz="1600" b="1" dirty="0">
                <a:solidFill>
                  <a:schemeClr val="tx2"/>
                </a:solidFill>
              </a:rPr>
              <a:t>index.json per service</a:t>
            </a:r>
            <a:endParaRPr lang="en-US" sz="1600" dirty="0"/>
          </a:p>
          <a:p>
            <a:pPr marL="0" indent="0">
              <a:buNone/>
            </a:pPr>
            <a:r>
              <a:rPr lang="en-US" sz="1300" dirty="0">
                <a:solidFill>
                  <a:schemeClr val="tx1"/>
                </a:solidFill>
              </a:rPr>
              <a:t>A web page cannot list folders, so each service keeps a list of its items. The dashboard starts there.</a:t>
            </a:r>
            <a:endParaRPr lang="en-US" sz="1600" dirty="0"/>
          </a:p>
        </p:txBody>
      </p:sp>
      <p:sp>
        <p:nvSpPr>
          <p:cNvPr id="8" name="rule-dot-1"/>
          <p:cNvSpPr/>
          <p:nvPr/>
        </p:nvSpPr>
        <p:spPr>
          <a:xfrm>
            <a:off x="7360920" y="2743200"/>
            <a:ext cx="457200" cy="457200"/>
          </a:xfrm>
          <a:prstGeom prst="ellipse">
            <a:avLst/>
          </a:prstGeom>
          <a:solidFill>
            <a:schemeClr val="accent1"/>
          </a:solidFill>
          <a:ln/>
        </p:spPr>
        <p:txBody>
          <a:bodyPr/>
          <a:lstStyle/>
          <a:p>
            <a:endParaRPr lang="en-CL"/>
          </a:p>
        </p:txBody>
      </p:sp>
      <p:sp>
        <p:nvSpPr>
          <p:cNvPr id="9" name="rule-num-1"/>
          <p:cNvSpPr txBox="1"/>
          <p:nvPr/>
        </p:nvSpPr>
        <p:spPr>
          <a:xfrm>
            <a:off x="7360920" y="274320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0" name="rule-1"/>
          <p:cNvSpPr txBox="1"/>
          <p:nvPr/>
        </p:nvSpPr>
        <p:spPr>
          <a:xfrm>
            <a:off x="8001000" y="2651760"/>
            <a:ext cx="3611880" cy="1188720"/>
          </a:xfrm>
          <a:prstGeom prst="rect">
            <a:avLst/>
          </a:prstGeom>
          <a:noFill/>
          <a:ln/>
        </p:spPr>
        <p:txBody>
          <a:bodyPr wrap="square" lIns="0" tIns="0" rIns="0" bIns="0" rtlCol="0" anchor="t"/>
          <a:lstStyle/>
          <a:p>
            <a:pPr marL="0" indent="0">
              <a:buNone/>
            </a:pPr>
            <a:r>
              <a:rPr lang="en-US" sz="1600" b="1" dirty="0">
                <a:solidFill>
                  <a:schemeClr val="tx2"/>
                </a:solidFill>
              </a:rPr>
              <a:t>UTC timestamps</a:t>
            </a:r>
            <a:endParaRPr lang="en-US" sz="1600" dirty="0"/>
          </a:p>
          <a:p>
            <a:pPr marL="0" indent="0">
              <a:buNone/>
            </a:pPr>
            <a:r>
              <a:rPr lang="en-US" sz="1300" dirty="0">
                <a:solidFill>
                  <a:schemeClr val="tx1"/>
                </a:solidFill>
              </a:rPr>
              <a:t>All dates are ISO 8601 in UTC (…Z). Folder names start with the time so they sort chronologically.</a:t>
            </a:r>
            <a:endParaRPr lang="en-US" sz="1600" dirty="0"/>
          </a:p>
        </p:txBody>
      </p:sp>
      <p:sp>
        <p:nvSpPr>
          <p:cNvPr id="11" name="rule-dot-2"/>
          <p:cNvSpPr/>
          <p:nvPr/>
        </p:nvSpPr>
        <p:spPr>
          <a:xfrm>
            <a:off x="7360920" y="4069080"/>
            <a:ext cx="457200" cy="457200"/>
          </a:xfrm>
          <a:prstGeom prst="ellipse">
            <a:avLst/>
          </a:prstGeom>
          <a:solidFill>
            <a:schemeClr val="accent1"/>
          </a:solidFill>
          <a:ln/>
        </p:spPr>
        <p:txBody>
          <a:bodyPr/>
          <a:lstStyle/>
          <a:p>
            <a:endParaRPr lang="en-CL"/>
          </a:p>
        </p:txBody>
      </p:sp>
      <p:sp>
        <p:nvSpPr>
          <p:cNvPr id="12" name="rule-num-2"/>
          <p:cNvSpPr txBox="1"/>
          <p:nvPr/>
        </p:nvSpPr>
        <p:spPr>
          <a:xfrm>
            <a:off x="7360920" y="40690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3" name="rule-2"/>
          <p:cNvSpPr txBox="1"/>
          <p:nvPr/>
        </p:nvSpPr>
        <p:spPr>
          <a:xfrm>
            <a:off x="8001000" y="3977640"/>
            <a:ext cx="3611880" cy="1188720"/>
          </a:xfrm>
          <a:prstGeom prst="rect">
            <a:avLst/>
          </a:prstGeom>
          <a:noFill/>
          <a:ln/>
        </p:spPr>
        <p:txBody>
          <a:bodyPr wrap="square" lIns="0" tIns="0" rIns="0" bIns="0" rtlCol="0" anchor="t"/>
          <a:lstStyle/>
          <a:p>
            <a:pPr marL="0" indent="0">
              <a:buNone/>
            </a:pPr>
            <a:r>
              <a:rPr lang="en-US" sz="1600" b="1" dirty="0">
                <a:solidFill>
                  <a:schemeClr val="tx2"/>
                </a:solidFill>
              </a:rPr>
              <a:t>Upsert, never duplicate</a:t>
            </a:r>
            <a:endParaRPr lang="en-US" sz="1600" dirty="0"/>
          </a:p>
          <a:p>
            <a:pPr marL="0" indent="0">
              <a:buNone/>
            </a:pPr>
            <a:r>
              <a:rPr lang="en-US" sz="1300" dirty="0">
                <a:solidFill>
                  <a:schemeClr val="tx1"/>
                </a:solidFill>
              </a:rPr>
              <a:t>Same id → overwrite in its existing folder. New id → new folder. Nothing is ever deleted.</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A skill makes the download repeatable</a:t>
            </a:r>
            <a:endParaRPr lang="en-US" sz="3200" dirty="0"/>
          </a:p>
        </p:txBody>
      </p:sp>
      <p:sp>
        <p:nvSpPr>
          <p:cNvPr id="3" name="skill-path"/>
          <p:cNvSpPr txBox="1"/>
          <p:nvPr/>
        </p:nvSpPr>
        <p:spPr>
          <a:xfrm>
            <a:off x="548640" y="1234440"/>
            <a:ext cx="11064240" cy="457200"/>
          </a:xfrm>
          <a:prstGeom prst="rect">
            <a:avLst/>
          </a:prstGeom>
          <a:noFill/>
          <a:ln/>
        </p:spPr>
        <p:txBody>
          <a:bodyPr wrap="square" lIns="0" tIns="0" rIns="0" bIns="0" rtlCol="0" anchor="ctr"/>
          <a:lstStyle/>
          <a:p>
            <a:pPr marL="0" indent="0">
              <a:buNone/>
            </a:pPr>
            <a:r>
              <a:rPr lang="en-US" sz="1400" dirty="0">
                <a:solidFill>
                  <a:srgbClr val="4B5563"/>
                </a:solidFill>
              </a:rPr>
              <a:t>.claude/skills/download-service-data/SKILL.md  —  which connector per service, read-only rule, step-by-step procedure, upsert, final checklist</a:t>
            </a:r>
            <a:endParaRPr lang="en-US" sz="1400" dirty="0"/>
          </a:p>
        </p:txBody>
      </p:sp>
      <p:sp>
        <p:nvSpPr>
          <p:cNvPr id="4" name="step-0"/>
          <p:cNvSpPr txBox="1"/>
          <p:nvPr/>
        </p:nvSpPr>
        <p:spPr>
          <a:xfrm>
            <a:off x="548640" y="1920240"/>
            <a:ext cx="2606040" cy="2286000"/>
          </a:xfrm>
          <a:prstGeom prst="roundRect">
            <a:avLst>
              <a:gd name="adj" fmla="val 4000"/>
            </a:avLst>
          </a:prstGeom>
          <a:solidFill>
            <a:schemeClr val="bg2"/>
          </a:solidFill>
          <a:ln/>
        </p:spPr>
        <p:txBody>
          <a:bodyPr wrap="square" lIns="177800" tIns="177800" rIns="177800" bIns="177800" rtlCol="0" anchor="t"/>
          <a:lstStyle/>
          <a:p>
            <a:pPr marL="0" indent="0">
              <a:buNone/>
            </a:pPr>
            <a:r>
              <a:rPr lang="en-US" sz="2800" b="1" dirty="0">
                <a:solidFill>
                  <a:schemeClr val="accent1"/>
                </a:solidFill>
                <a:latin typeface="Cambria" pitchFamily="34" charset="0"/>
                <a:ea typeface="Cambria" pitchFamily="34" charset="-122"/>
                <a:cs typeface="Cambria" pitchFamily="34" charset="-120"/>
              </a:rPr>
              <a:t>1</a:t>
            </a:r>
            <a:endParaRPr lang="en-US" sz="2800" dirty="0"/>
          </a:p>
          <a:p>
            <a:pPr marL="0" indent="0">
              <a:buNone/>
            </a:pPr>
            <a:r>
              <a:rPr lang="en-US" sz="1600" b="1" dirty="0">
                <a:solidFill>
                  <a:schemeClr val="tx2"/>
                </a:solidFill>
              </a:rPr>
              <a:t>Create new items</a:t>
            </a:r>
            <a:endParaRPr lang="en-US" sz="2800" dirty="0"/>
          </a:p>
          <a:p>
            <a:pPr marL="0" indent="0">
              <a:buNone/>
            </a:pPr>
            <a:r>
              <a:rPr lang="en-US" sz="1300" dirty="0">
                <a:solidFill>
                  <a:schemeClr val="tx1"/>
                </a:solidFill>
              </a:rPr>
              <a:t>2 emails, 2 events, 2 GitHub issues, 1 Notion page</a:t>
            </a:r>
            <a:endParaRPr lang="en-US" sz="2800" dirty="0"/>
          </a:p>
        </p:txBody>
      </p:sp>
      <p:sp>
        <p:nvSpPr>
          <p:cNvPr id="5" name="step-1"/>
          <p:cNvSpPr txBox="1"/>
          <p:nvPr/>
        </p:nvSpPr>
        <p:spPr>
          <a:xfrm>
            <a:off x="3383280" y="1920240"/>
            <a:ext cx="2606040" cy="2286000"/>
          </a:xfrm>
          <a:prstGeom prst="roundRect">
            <a:avLst>
              <a:gd name="adj" fmla="val 4000"/>
            </a:avLst>
          </a:prstGeom>
          <a:solidFill>
            <a:schemeClr val="bg2"/>
          </a:solidFill>
          <a:ln/>
        </p:spPr>
        <p:txBody>
          <a:bodyPr wrap="square" lIns="177800" tIns="177800" rIns="177800" bIns="177800" rtlCol="0" anchor="t"/>
          <a:lstStyle/>
          <a:p>
            <a:pPr marL="0" indent="0">
              <a:buNone/>
            </a:pPr>
            <a:r>
              <a:rPr lang="en-US" sz="2800" b="1" dirty="0">
                <a:solidFill>
                  <a:schemeClr val="accent1"/>
                </a:solidFill>
                <a:latin typeface="Cambria" pitchFamily="34" charset="0"/>
                <a:ea typeface="Cambria" pitchFamily="34" charset="-122"/>
                <a:cs typeface="Cambria" pitchFamily="34" charset="-120"/>
              </a:rPr>
              <a:t>2</a:t>
            </a:r>
            <a:endParaRPr lang="en-US" sz="2800" dirty="0"/>
          </a:p>
          <a:p>
            <a:pPr marL="0" indent="0">
              <a:buNone/>
            </a:pPr>
            <a:r>
              <a:rPr lang="en-US" sz="1600" b="1" dirty="0">
                <a:solidFill>
                  <a:schemeClr val="tx2"/>
                </a:solidFill>
              </a:rPr>
              <a:t>/clear</a:t>
            </a:r>
            <a:endParaRPr lang="en-US" sz="2800" dirty="0"/>
          </a:p>
          <a:p>
            <a:pPr marL="0" indent="0">
              <a:buNone/>
            </a:pPr>
            <a:r>
              <a:rPr lang="en-US" sz="1300" dirty="0">
                <a:solidFill>
                  <a:schemeClr val="tx1"/>
                </a:solidFill>
              </a:rPr>
              <a:t>Claude forgets the whole conversation</a:t>
            </a:r>
            <a:endParaRPr lang="en-US" sz="2800" dirty="0"/>
          </a:p>
        </p:txBody>
      </p:sp>
      <p:sp>
        <p:nvSpPr>
          <p:cNvPr id="6" name="step-2"/>
          <p:cNvSpPr txBox="1"/>
          <p:nvPr/>
        </p:nvSpPr>
        <p:spPr>
          <a:xfrm>
            <a:off x="6217920" y="1920240"/>
            <a:ext cx="2606040" cy="2286000"/>
          </a:xfrm>
          <a:prstGeom prst="roundRect">
            <a:avLst>
              <a:gd name="adj" fmla="val 4000"/>
            </a:avLst>
          </a:prstGeom>
          <a:solidFill>
            <a:schemeClr val="bg2"/>
          </a:solidFill>
          <a:ln/>
        </p:spPr>
        <p:txBody>
          <a:bodyPr wrap="square" lIns="177800" tIns="177800" rIns="177800" bIns="177800" rtlCol="0" anchor="t"/>
          <a:lstStyle/>
          <a:p>
            <a:pPr marL="0" indent="0">
              <a:buNone/>
            </a:pPr>
            <a:r>
              <a:rPr lang="en-US" sz="2800" b="1" dirty="0">
                <a:solidFill>
                  <a:schemeClr val="accent1"/>
                </a:solidFill>
                <a:latin typeface="Cambria" pitchFamily="34" charset="0"/>
                <a:ea typeface="Cambria" pitchFamily="34" charset="-122"/>
                <a:cs typeface="Cambria" pitchFamily="34" charset="-120"/>
              </a:rPr>
              <a:t>3</a:t>
            </a:r>
            <a:endParaRPr lang="en-US" sz="2800" dirty="0"/>
          </a:p>
          <a:p>
            <a:pPr marL="0" indent="0">
              <a:buNone/>
            </a:pPr>
            <a:r>
              <a:rPr lang="en-US" sz="1600" b="1" dirty="0">
                <a:solidFill>
                  <a:schemeClr val="tx2"/>
                </a:solidFill>
              </a:rPr>
              <a:t>Ask plainly</a:t>
            </a:r>
            <a:endParaRPr lang="en-US" sz="2800" dirty="0"/>
          </a:p>
          <a:p>
            <a:pPr marL="0" indent="0">
              <a:buNone/>
            </a:pPr>
            <a:r>
              <a:rPr lang="en-US" sz="1300" dirty="0">
                <a:solidFill>
                  <a:schemeClr val="tx1"/>
                </a:solidFill>
              </a:rPr>
              <a:t>“Download any new emails, calendar events, GitHub issues and Notion pages into the project.”</a:t>
            </a:r>
            <a:endParaRPr lang="en-US" sz="2800" dirty="0"/>
          </a:p>
        </p:txBody>
      </p:sp>
      <p:sp>
        <p:nvSpPr>
          <p:cNvPr id="7" name="step-3"/>
          <p:cNvSpPr txBox="1"/>
          <p:nvPr/>
        </p:nvSpPr>
        <p:spPr>
          <a:xfrm>
            <a:off x="9052560" y="1920240"/>
            <a:ext cx="2606040" cy="2286000"/>
          </a:xfrm>
          <a:prstGeom prst="roundRect">
            <a:avLst>
              <a:gd name="adj" fmla="val 4000"/>
            </a:avLst>
          </a:prstGeom>
          <a:solidFill>
            <a:schemeClr val="bg2"/>
          </a:solidFill>
          <a:ln/>
        </p:spPr>
        <p:txBody>
          <a:bodyPr wrap="square" lIns="177800" tIns="177800" rIns="177800" bIns="177800" rtlCol="0" anchor="t"/>
          <a:lstStyle/>
          <a:p>
            <a:pPr marL="0" indent="0">
              <a:buNone/>
            </a:pPr>
            <a:r>
              <a:rPr lang="en-US" sz="2800" b="1" dirty="0">
                <a:solidFill>
                  <a:schemeClr val="accent1"/>
                </a:solidFill>
                <a:latin typeface="Cambria" pitchFamily="34" charset="0"/>
                <a:ea typeface="Cambria" pitchFamily="34" charset="-122"/>
                <a:cs typeface="Cambria" pitchFamily="34" charset="-120"/>
              </a:rPr>
              <a:t>4</a:t>
            </a:r>
            <a:endParaRPr lang="en-US" sz="2800" dirty="0"/>
          </a:p>
          <a:p>
            <a:pPr marL="0" indent="0">
              <a:buNone/>
            </a:pPr>
            <a:r>
              <a:rPr lang="en-US" sz="1600" b="1" dirty="0">
                <a:solidFill>
                  <a:schemeClr val="tx2"/>
                </a:solidFill>
              </a:rPr>
              <a:t>Skill runs by itself</a:t>
            </a:r>
            <a:endParaRPr lang="en-US" sz="2800" dirty="0"/>
          </a:p>
          <a:p>
            <a:pPr marL="0" indent="0">
              <a:buNone/>
            </a:pPr>
            <a:r>
              <a:rPr lang="en-US" sz="1300" dirty="0">
                <a:solidFill>
                  <a:schemeClr val="tx1"/>
                </a:solidFill>
              </a:rPr>
              <a:t>Same format, index.json updated, no duplicates</a:t>
            </a:r>
            <a:endParaRPr lang="en-US" sz="2800" dirty="0"/>
          </a:p>
        </p:txBody>
      </p:sp>
      <p:sp>
        <p:nvSpPr>
          <p:cNvPr id="8" name="result-0"/>
          <p:cNvSpPr txBox="1"/>
          <p:nvPr/>
        </p:nvSpPr>
        <p:spPr>
          <a:xfrm>
            <a:off x="548640" y="4572000"/>
            <a:ext cx="3566160" cy="914400"/>
          </a:xfrm>
          <a:prstGeom prst="rect">
            <a:avLst/>
          </a:prstGeom>
          <a:noFill/>
          <a:ln/>
        </p:spPr>
        <p:txBody>
          <a:bodyPr wrap="square" lIns="0" tIns="0" rIns="0" bIns="0" rtlCol="0" anchor="ctr"/>
          <a:lstStyle/>
          <a:p>
            <a:pPr marL="0" indent="0">
              <a:buNone/>
            </a:pPr>
            <a:r>
              <a:rPr lang="en-US" sz="4000" b="1" dirty="0">
                <a:solidFill>
                  <a:schemeClr val="tx2"/>
                </a:solidFill>
                <a:latin typeface="Cambria" pitchFamily="34" charset="0"/>
                <a:ea typeface="Cambria" pitchFamily="34" charset="-122"/>
                <a:cs typeface="Cambria" pitchFamily="34" charset="-120"/>
              </a:rPr>
              <a:t>+7</a:t>
            </a:r>
            <a:r>
              <a:rPr lang="en-US" sz="1500" dirty="0">
                <a:solidFill>
                  <a:srgbClr val="4B5563"/>
                </a:solidFill>
              </a:rPr>
              <a:t>  new items stored</a:t>
            </a:r>
            <a:endParaRPr lang="en-US" sz="4000" dirty="0"/>
          </a:p>
        </p:txBody>
      </p:sp>
      <p:sp>
        <p:nvSpPr>
          <p:cNvPr id="9" name="result-1"/>
          <p:cNvSpPr txBox="1"/>
          <p:nvPr/>
        </p:nvSpPr>
        <p:spPr>
          <a:xfrm>
            <a:off x="4297680" y="4572000"/>
            <a:ext cx="3566160" cy="914400"/>
          </a:xfrm>
          <a:prstGeom prst="rect">
            <a:avLst/>
          </a:prstGeom>
          <a:noFill/>
          <a:ln/>
        </p:spPr>
        <p:txBody>
          <a:bodyPr wrap="square" lIns="0" tIns="0" rIns="0" bIns="0" rtlCol="0" anchor="ctr"/>
          <a:lstStyle/>
          <a:p>
            <a:pPr marL="0" indent="0">
              <a:buNone/>
            </a:pPr>
            <a:r>
              <a:rPr lang="en-US" sz="4000" b="1" dirty="0">
                <a:solidFill>
                  <a:schemeClr val="tx2"/>
                </a:solidFill>
                <a:latin typeface="Cambria" pitchFamily="34" charset="0"/>
                <a:ea typeface="Cambria" pitchFamily="34" charset="-122"/>
                <a:cs typeface="Cambria" pitchFamily="34" charset="-120"/>
              </a:rPr>
              <a:t>0</a:t>
            </a:r>
            <a:r>
              <a:rPr lang="en-US" sz="1500" dirty="0">
                <a:solidFill>
                  <a:srgbClr val="4B5563"/>
                </a:solidFill>
              </a:rPr>
              <a:t>  duplicates</a:t>
            </a:r>
            <a:endParaRPr lang="en-US" sz="4000" dirty="0"/>
          </a:p>
        </p:txBody>
      </p:sp>
      <p:sp>
        <p:nvSpPr>
          <p:cNvPr id="10" name="result-2"/>
          <p:cNvSpPr txBox="1"/>
          <p:nvPr/>
        </p:nvSpPr>
        <p:spPr>
          <a:xfrm>
            <a:off x="8046720" y="4572000"/>
            <a:ext cx="3566160" cy="914400"/>
          </a:xfrm>
          <a:prstGeom prst="rect">
            <a:avLst/>
          </a:prstGeom>
          <a:noFill/>
          <a:ln/>
        </p:spPr>
        <p:txBody>
          <a:bodyPr wrap="square" lIns="0" tIns="0" rIns="0" bIns="0" rtlCol="0" anchor="ctr"/>
          <a:lstStyle/>
          <a:p>
            <a:pPr marL="0" indent="0">
              <a:buNone/>
            </a:pPr>
            <a:r>
              <a:rPr lang="en-US" sz="4000" b="1" dirty="0">
                <a:solidFill>
                  <a:schemeClr val="tx2"/>
                </a:solidFill>
                <a:latin typeface="Cambria" pitchFamily="34" charset="0"/>
                <a:ea typeface="Cambria" pitchFamily="34" charset="-122"/>
                <a:cs typeface="Cambria" pitchFamily="34" charset="-120"/>
              </a:rPr>
              <a:t>46</a:t>
            </a:r>
            <a:r>
              <a:rPr lang="en-US" sz="1500" dirty="0">
                <a:solidFill>
                  <a:srgbClr val="4B5563"/>
                </a:solidFill>
              </a:rPr>
              <a:t>  items total</a:t>
            </a:r>
            <a:endParaRPr lang="en-US" sz="4000" dirty="0"/>
          </a:p>
        </p:txBody>
      </p:sp>
      <p:sp>
        <p:nvSpPr>
          <p:cNvPr id="11" name="skill-quote"/>
          <p:cNvSpPr txBox="1"/>
          <p:nvPr/>
        </p:nvSpPr>
        <p:spPr>
          <a:xfrm>
            <a:off x="548640" y="5577840"/>
            <a:ext cx="11064240" cy="548640"/>
          </a:xfrm>
          <a:prstGeom prst="rect">
            <a:avLst/>
          </a:prstGeom>
          <a:noFill/>
          <a:ln/>
        </p:spPr>
        <p:txBody>
          <a:bodyPr wrap="square" lIns="0" tIns="0" rIns="0" bIns="0" rtlCol="0" anchor="ctr"/>
          <a:lstStyle/>
          <a:p>
            <a:pPr marL="0" indent="0">
              <a:buNone/>
            </a:pPr>
            <a:r>
              <a:rPr lang="en-US" sz="1400" i="1" dirty="0">
                <a:solidFill>
                  <a:schemeClr val="tx1"/>
                </a:solidFill>
              </a:rPr>
              <a:t>Claude: “Account check … as the skill expects.” The query matched 11 emails; it only wrote the 2 not already stored.</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Gmail: the email and its local copy</a:t>
            </a:r>
            <a:endParaRPr lang="en-US" sz="3200" dirty="0"/>
          </a:p>
        </p:txBody>
      </p:sp>
      <p:sp>
        <p:nvSpPr>
          <p:cNvPr id="3" name="service-chip"/>
          <p:cNvSpPr txBox="1"/>
          <p:nvPr/>
        </p:nvSpPr>
        <p:spPr>
          <a:xfrm>
            <a:off x="548640" y="1234440"/>
            <a:ext cx="1463040" cy="347472"/>
          </a:xfrm>
          <a:prstGeom prst="roundRect">
            <a:avLst>
              <a:gd name="adj" fmla="val 21053"/>
            </a:avLst>
          </a:prstGeom>
          <a:solidFill>
            <a:schemeClr val="accent2"/>
          </a:solidFill>
          <a:ln/>
        </p:spPr>
        <p:txBody>
          <a:bodyPr wrap="square" lIns="0" tIns="0" rIns="0" bIns="0" rtlCol="0" anchor="ctr"/>
          <a:lstStyle/>
          <a:p>
            <a:pPr marL="0" indent="0" algn="ctr">
              <a:buNone/>
            </a:pPr>
            <a:r>
              <a:rPr lang="en-US" sz="1200" b="1" dirty="0">
                <a:solidFill>
                  <a:schemeClr val="bg1"/>
                </a:solidFill>
              </a:rPr>
              <a:t>GMAIL</a:t>
            </a:r>
            <a:endParaRPr lang="en-US" sz="1200" dirty="0"/>
          </a:p>
        </p:txBody>
      </p:sp>
      <p:sp>
        <p:nvSpPr>
          <p:cNvPr id="4" name="orig-caption"/>
          <p:cNvSpPr txBox="1"/>
          <p:nvPr/>
        </p:nvSpPr>
        <p:spPr>
          <a:xfrm>
            <a:off x="548640" y="1737360"/>
            <a:ext cx="5394960" cy="365760"/>
          </a:xfrm>
          <a:prstGeom prst="rect">
            <a:avLst/>
          </a:prstGeom>
          <a:noFill/>
          <a:ln/>
        </p:spPr>
        <p:txBody>
          <a:bodyPr wrap="square" lIns="0" tIns="0" rIns="0" bIns="0" rtlCol="0" anchor="ctr"/>
          <a:lstStyle/>
          <a:p>
            <a:pPr marL="0" indent="0">
              <a:buNone/>
            </a:pPr>
            <a:r>
              <a:rPr lang="en-US" sz="1400" b="1" dirty="0">
                <a:solidFill>
                  <a:schemeClr val="tx2"/>
                </a:solidFill>
              </a:rPr>
              <a:t>Original  </a:t>
            </a:r>
            <a:r>
              <a:rPr lang="en-US" sz="1400" dirty="0">
                <a:solidFill>
                  <a:srgbClr val="4B5563"/>
                </a:solidFill>
              </a:rPr>
              <a:t>Rachel Stein's approval in the test inbox</a:t>
            </a:r>
            <a:endParaRPr lang="en-US" sz="1400" dirty="0"/>
          </a:p>
        </p:txBody>
      </p:sp>
      <p:pic>
        <p:nvPicPr>
          <p:cNvPr id="5" name="orig-shot" descr="/mnt/user-data/outputs/screenshots/05-gmail-original-email.jpg"/>
          <p:cNvPicPr>
            <a:picLocks noChangeAspect="1"/>
          </p:cNvPicPr>
          <p:nvPr/>
        </p:nvPicPr>
        <p:blipFill>
          <a:blip r:embed="rId3"/>
          <a:stretch>
            <a:fillRect/>
          </a:stretch>
        </p:blipFill>
        <p:spPr>
          <a:xfrm>
            <a:off x="548640" y="2365279"/>
            <a:ext cx="5394960" cy="2858962"/>
          </a:xfrm>
          <a:prstGeom prst="rect">
            <a:avLst/>
          </a:prstGeom>
          <a:effectLst>
            <a:outerShdw blurRad="76200" dist="25400" dir="5400000" algn="bl" rotWithShape="0">
              <a:srgbClr val="1E2433">
                <a:alpha val="25000"/>
              </a:srgbClr>
            </a:outerShdw>
          </a:effectLst>
        </p:spPr>
      </p:pic>
      <p:sp>
        <p:nvSpPr>
          <p:cNvPr id="6" name="dash-caption"/>
          <p:cNvSpPr txBox="1"/>
          <p:nvPr/>
        </p:nvSpPr>
        <p:spPr>
          <a:xfrm>
            <a:off x="6245352" y="1737360"/>
            <a:ext cx="5394960" cy="365760"/>
          </a:xfrm>
          <a:prstGeom prst="rect">
            <a:avLst/>
          </a:prstGeom>
          <a:noFill/>
          <a:ln/>
        </p:spPr>
        <p:txBody>
          <a:bodyPr wrap="square" lIns="0" tIns="0" rIns="0" bIns="0" rtlCol="0" anchor="ctr"/>
          <a:lstStyle/>
          <a:p>
            <a:pPr marL="0" indent="0">
              <a:buNone/>
            </a:pPr>
            <a:r>
              <a:rPr lang="en-US" sz="1400" b="1" dirty="0">
                <a:solidFill>
                  <a:schemeClr val="tx2"/>
                </a:solidFill>
              </a:rPr>
              <a:t>Dashboard  </a:t>
            </a:r>
            <a:r>
              <a:rPr lang="en-US" sz="1400" dirty="0">
                <a:solidFill>
                  <a:srgbClr val="4B5563"/>
                </a:solidFill>
              </a:rPr>
              <a:t>same email from dataExports/gmail/…/body.txt</a:t>
            </a:r>
            <a:endParaRPr lang="en-US" sz="1400" dirty="0"/>
          </a:p>
        </p:txBody>
      </p:sp>
      <p:pic>
        <p:nvPicPr>
          <p:cNvPr id="7" name="dash-shot" descr="/mnt/user-data/outputs/screenshots/09-dashboard-gmail.jpg"/>
          <p:cNvPicPr>
            <a:picLocks noChangeAspect="1"/>
          </p:cNvPicPr>
          <p:nvPr/>
        </p:nvPicPr>
        <p:blipFill>
          <a:blip r:embed="rId4"/>
          <a:stretch>
            <a:fillRect/>
          </a:stretch>
        </p:blipFill>
        <p:spPr>
          <a:xfrm>
            <a:off x="6245352" y="2365279"/>
            <a:ext cx="5394960" cy="2858962"/>
          </a:xfrm>
          <a:prstGeom prst="rect">
            <a:avLst/>
          </a:prstGeom>
          <a:effectLst>
            <a:outerShdw blurRad="76200" dist="25400" dir="5400000" algn="bl" rotWithShape="0">
              <a:srgbClr val="1E2433">
                <a:alpha val="25000"/>
              </a:srgbClr>
            </a:outerShdw>
          </a:effectLst>
        </p:spPr>
      </p:pic>
      <p:sp>
        <p:nvSpPr>
          <p:cNvPr id="8" name="arrow"/>
          <p:cNvSpPr txBox="1"/>
          <p:nvPr/>
        </p:nvSpPr>
        <p:spPr>
          <a:xfrm>
            <a:off x="5916168" y="3520440"/>
            <a:ext cx="365760" cy="45720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9" name="takeaway"/>
          <p:cNvSpPr txBox="1"/>
          <p:nvPr/>
        </p:nvSpPr>
        <p:spPr>
          <a:xfrm>
            <a:off x="548640" y="5486400"/>
            <a:ext cx="11064240" cy="502920"/>
          </a:xfrm>
          <a:prstGeom prst="rect">
            <a:avLst/>
          </a:prstGeom>
          <a:noFill/>
          <a:ln/>
        </p:spPr>
        <p:txBody>
          <a:bodyPr wrap="square" lIns="0" tIns="0" rIns="0" bIns="0" rtlCol="0" anchor="ctr"/>
          <a:lstStyle/>
          <a:p>
            <a:pPr marL="0" indent="0">
              <a:buNone/>
            </a:pPr>
            <a:r>
              <a:rPr lang="en-US" sz="1500" i="1" dirty="0">
                <a:solidFill>
                  <a:schemeClr val="tx1"/>
                </a:solidFill>
              </a:rPr>
              <a:t>From, to, date and body are preserved exactly; the dashboard reads metadata.json + body.txt.</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Calendar: event details survive the trip</a:t>
            </a:r>
            <a:endParaRPr lang="en-US" sz="3200" dirty="0"/>
          </a:p>
        </p:txBody>
      </p:sp>
      <p:sp>
        <p:nvSpPr>
          <p:cNvPr id="3" name="service-chip"/>
          <p:cNvSpPr txBox="1"/>
          <p:nvPr/>
        </p:nvSpPr>
        <p:spPr>
          <a:xfrm>
            <a:off x="548640" y="1234440"/>
            <a:ext cx="1463040" cy="347472"/>
          </a:xfrm>
          <a:prstGeom prst="roundRect">
            <a:avLst>
              <a:gd name="adj" fmla="val 21053"/>
            </a:avLst>
          </a:prstGeom>
          <a:solidFill>
            <a:schemeClr val="accent3"/>
          </a:solidFill>
          <a:ln/>
        </p:spPr>
        <p:txBody>
          <a:bodyPr wrap="square" lIns="0" tIns="0" rIns="0" bIns="0" rtlCol="0" anchor="ctr"/>
          <a:lstStyle/>
          <a:p>
            <a:pPr marL="0" indent="0" algn="ctr">
              <a:buNone/>
            </a:pPr>
            <a:r>
              <a:rPr lang="en-US" sz="1200" b="1" dirty="0">
                <a:solidFill>
                  <a:schemeClr val="bg1"/>
                </a:solidFill>
              </a:rPr>
              <a:t>CALENDAR</a:t>
            </a:r>
            <a:endParaRPr lang="en-US" sz="1200" dirty="0"/>
          </a:p>
        </p:txBody>
      </p:sp>
      <p:sp>
        <p:nvSpPr>
          <p:cNvPr id="4" name="orig-caption"/>
          <p:cNvSpPr txBox="1"/>
          <p:nvPr/>
        </p:nvSpPr>
        <p:spPr>
          <a:xfrm>
            <a:off x="548640" y="1737360"/>
            <a:ext cx="5394960" cy="365760"/>
          </a:xfrm>
          <a:prstGeom prst="rect">
            <a:avLst/>
          </a:prstGeom>
          <a:noFill/>
          <a:ln/>
        </p:spPr>
        <p:txBody>
          <a:bodyPr wrap="square" lIns="0" tIns="0" rIns="0" bIns="0" rtlCol="0" anchor="ctr"/>
          <a:lstStyle/>
          <a:p>
            <a:pPr marL="0" indent="0">
              <a:buNone/>
            </a:pPr>
            <a:r>
              <a:rPr lang="en-US" sz="1400" b="1" dirty="0">
                <a:solidFill>
                  <a:schemeClr val="tx2"/>
                </a:solidFill>
              </a:rPr>
              <a:t>Original  </a:t>
            </a:r>
            <a:r>
              <a:rPr lang="en-US" sz="1400" dirty="0">
                <a:solidFill>
                  <a:srgbClr val="4B5563"/>
                </a:solidFill>
              </a:rPr>
              <a:t>Bayview client call, Oct 20, 2:00–3:00 PM</a:t>
            </a:r>
            <a:endParaRPr lang="en-US" sz="1400" dirty="0"/>
          </a:p>
        </p:txBody>
      </p:sp>
      <p:pic>
        <p:nvPicPr>
          <p:cNvPr id="5" name="orig-shot" descr="/mnt/user-data/outputs/screenshots/07-calendar-original-event.jpg"/>
          <p:cNvPicPr>
            <a:picLocks noChangeAspect="1"/>
          </p:cNvPicPr>
          <p:nvPr/>
        </p:nvPicPr>
        <p:blipFill>
          <a:blip r:embed="rId3"/>
          <a:stretch>
            <a:fillRect/>
          </a:stretch>
        </p:blipFill>
        <p:spPr>
          <a:xfrm>
            <a:off x="548640" y="2365279"/>
            <a:ext cx="5394960" cy="2858962"/>
          </a:xfrm>
          <a:prstGeom prst="rect">
            <a:avLst/>
          </a:prstGeom>
          <a:effectLst>
            <a:outerShdw blurRad="76200" dist="25400" dir="5400000" algn="bl" rotWithShape="0">
              <a:srgbClr val="1E2433">
                <a:alpha val="25000"/>
              </a:srgbClr>
            </a:outerShdw>
          </a:effectLst>
        </p:spPr>
      </p:pic>
      <p:sp>
        <p:nvSpPr>
          <p:cNvPr id="6" name="dash-caption"/>
          <p:cNvSpPr txBox="1"/>
          <p:nvPr/>
        </p:nvSpPr>
        <p:spPr>
          <a:xfrm>
            <a:off x="6245352" y="1737360"/>
            <a:ext cx="5394960" cy="365760"/>
          </a:xfrm>
          <a:prstGeom prst="rect">
            <a:avLst/>
          </a:prstGeom>
          <a:noFill/>
          <a:ln/>
        </p:spPr>
        <p:txBody>
          <a:bodyPr wrap="square" lIns="0" tIns="0" rIns="0" bIns="0" rtlCol="0" anchor="ctr"/>
          <a:lstStyle/>
          <a:p>
            <a:pPr marL="0" indent="0">
              <a:buNone/>
            </a:pPr>
            <a:r>
              <a:rPr lang="en-US" sz="1400" b="1" dirty="0">
                <a:solidFill>
                  <a:schemeClr val="tx2"/>
                </a:solidFill>
              </a:rPr>
              <a:t>Dashboard  </a:t>
            </a:r>
            <a:r>
              <a:rPr lang="en-US" sz="1400" dirty="0">
                <a:solidFill>
                  <a:srgbClr val="4B5563"/>
                </a:solidFill>
              </a:rPr>
              <a:t>same event, start/end converted from UTC</a:t>
            </a:r>
            <a:endParaRPr lang="en-US" sz="1400" dirty="0"/>
          </a:p>
        </p:txBody>
      </p:sp>
      <p:pic>
        <p:nvPicPr>
          <p:cNvPr id="7" name="dash-shot" descr="/mnt/user-data/outputs/screenshots/11-dashboard-calendar.jpg"/>
          <p:cNvPicPr>
            <a:picLocks noChangeAspect="1"/>
          </p:cNvPicPr>
          <p:nvPr/>
        </p:nvPicPr>
        <p:blipFill>
          <a:blip r:embed="rId4"/>
          <a:stretch>
            <a:fillRect/>
          </a:stretch>
        </p:blipFill>
        <p:spPr>
          <a:xfrm>
            <a:off x="6245352" y="2365279"/>
            <a:ext cx="5394960" cy="2858962"/>
          </a:xfrm>
          <a:prstGeom prst="rect">
            <a:avLst/>
          </a:prstGeom>
          <a:effectLst>
            <a:outerShdw blurRad="76200" dist="25400" dir="5400000" algn="bl" rotWithShape="0">
              <a:srgbClr val="1E2433">
                <a:alpha val="25000"/>
              </a:srgbClr>
            </a:outerShdw>
          </a:effectLst>
        </p:spPr>
      </p:pic>
      <p:sp>
        <p:nvSpPr>
          <p:cNvPr id="8" name="arrow"/>
          <p:cNvSpPr txBox="1"/>
          <p:nvPr/>
        </p:nvSpPr>
        <p:spPr>
          <a:xfrm>
            <a:off x="5916168" y="3520440"/>
            <a:ext cx="365760" cy="45720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9" name="takeaway"/>
          <p:cNvSpPr txBox="1"/>
          <p:nvPr/>
        </p:nvSpPr>
        <p:spPr>
          <a:xfrm>
            <a:off x="548640" y="5486400"/>
            <a:ext cx="11064240" cy="502920"/>
          </a:xfrm>
          <a:prstGeom prst="rect">
            <a:avLst/>
          </a:prstGeom>
          <a:noFill/>
          <a:ln/>
        </p:spPr>
        <p:txBody>
          <a:bodyPr wrap="square" lIns="0" tIns="0" rIns="0" bIns="0" rtlCol="0" anchor="ctr"/>
          <a:lstStyle/>
          <a:p>
            <a:pPr marL="0" indent="0">
              <a:buNone/>
            </a:pPr>
            <a:r>
              <a:rPr lang="en-US" sz="1500" i="1" dirty="0">
                <a:solidFill>
                  <a:schemeClr val="tx1"/>
                </a:solidFill>
              </a:rPr>
              <a:t>Stored in UTC, shown in local time: 18:00Z in the file is 2:00 PM New York in both views.</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GitHub: repos and their issues</a:t>
            </a:r>
            <a:endParaRPr lang="en-US" sz="3200" dirty="0"/>
          </a:p>
        </p:txBody>
      </p:sp>
      <p:sp>
        <p:nvSpPr>
          <p:cNvPr id="3" name="service-chip"/>
          <p:cNvSpPr txBox="1"/>
          <p:nvPr/>
        </p:nvSpPr>
        <p:spPr>
          <a:xfrm>
            <a:off x="548640" y="1234440"/>
            <a:ext cx="1463040" cy="347472"/>
          </a:xfrm>
          <a:prstGeom prst="roundRect">
            <a:avLst>
              <a:gd name="adj" fmla="val 21053"/>
            </a:avLst>
          </a:prstGeom>
          <a:solidFill>
            <a:schemeClr val="accent4"/>
          </a:solidFill>
          <a:ln/>
        </p:spPr>
        <p:txBody>
          <a:bodyPr wrap="square" lIns="0" tIns="0" rIns="0" bIns="0" rtlCol="0" anchor="ctr"/>
          <a:lstStyle/>
          <a:p>
            <a:pPr marL="0" indent="0" algn="ctr">
              <a:buNone/>
            </a:pPr>
            <a:r>
              <a:rPr lang="en-US" sz="1200" b="1" dirty="0">
                <a:solidFill>
                  <a:schemeClr val="bg1"/>
                </a:solidFill>
              </a:rPr>
              <a:t>GITHUB</a:t>
            </a:r>
            <a:endParaRPr lang="en-US" sz="1200" dirty="0"/>
          </a:p>
        </p:txBody>
      </p:sp>
      <p:sp>
        <p:nvSpPr>
          <p:cNvPr id="4" name="orig-caption"/>
          <p:cNvSpPr txBox="1"/>
          <p:nvPr/>
        </p:nvSpPr>
        <p:spPr>
          <a:xfrm>
            <a:off x="548640" y="1737360"/>
            <a:ext cx="5394960" cy="365760"/>
          </a:xfrm>
          <a:prstGeom prst="rect">
            <a:avLst/>
          </a:prstGeom>
          <a:noFill/>
          <a:ln/>
        </p:spPr>
        <p:txBody>
          <a:bodyPr wrap="square" lIns="0" tIns="0" rIns="0" bIns="0" rtlCol="0" anchor="ctr"/>
          <a:lstStyle/>
          <a:p>
            <a:pPr marL="0" indent="0">
              <a:buNone/>
            </a:pPr>
            <a:r>
              <a:rPr lang="en-US" sz="1400" b="1" dirty="0">
                <a:solidFill>
                  <a:schemeClr val="tx2"/>
                </a:solidFill>
              </a:rPr>
              <a:t>Original  </a:t>
            </a:r>
            <a:r>
              <a:rPr lang="en-US" sz="1400" dirty="0">
                <a:solidFill>
                  <a:srgbClr val="4B5563"/>
                </a:solidFill>
              </a:rPr>
              <a:t>stress-test-engine issue #1</a:t>
            </a:r>
            <a:endParaRPr lang="en-US" sz="1400" dirty="0"/>
          </a:p>
        </p:txBody>
      </p:sp>
      <p:pic>
        <p:nvPicPr>
          <p:cNvPr id="5" name="orig-shot" descr="/mnt/user-data/outputs/screenshots/01-github-original-issue.jpg"/>
          <p:cNvPicPr>
            <a:picLocks noChangeAspect="1"/>
          </p:cNvPicPr>
          <p:nvPr/>
        </p:nvPicPr>
        <p:blipFill>
          <a:blip r:embed="rId3"/>
          <a:stretch>
            <a:fillRect/>
          </a:stretch>
        </p:blipFill>
        <p:spPr>
          <a:xfrm>
            <a:off x="548640" y="2262606"/>
            <a:ext cx="5394960" cy="3064308"/>
          </a:xfrm>
          <a:prstGeom prst="rect">
            <a:avLst/>
          </a:prstGeom>
          <a:effectLst>
            <a:outerShdw blurRad="76200" dist="25400" dir="5400000" algn="bl" rotWithShape="0">
              <a:srgbClr val="1E2433">
                <a:alpha val="25000"/>
              </a:srgbClr>
            </a:outerShdw>
          </a:effectLst>
        </p:spPr>
      </p:pic>
      <p:sp>
        <p:nvSpPr>
          <p:cNvPr id="6" name="dash-caption"/>
          <p:cNvSpPr txBox="1"/>
          <p:nvPr/>
        </p:nvSpPr>
        <p:spPr>
          <a:xfrm>
            <a:off x="6245352" y="1737360"/>
            <a:ext cx="5394960" cy="365760"/>
          </a:xfrm>
          <a:prstGeom prst="rect">
            <a:avLst/>
          </a:prstGeom>
          <a:noFill/>
          <a:ln/>
        </p:spPr>
        <p:txBody>
          <a:bodyPr wrap="square" lIns="0" tIns="0" rIns="0" bIns="0" rtlCol="0" anchor="ctr"/>
          <a:lstStyle/>
          <a:p>
            <a:pPr marL="0" indent="0">
              <a:buNone/>
            </a:pPr>
            <a:r>
              <a:rPr lang="en-US" sz="1400" b="1" dirty="0">
                <a:solidFill>
                  <a:schemeClr val="tx2"/>
                </a:solidFill>
              </a:rPr>
              <a:t>Dashboard  </a:t>
            </a:r>
            <a:r>
              <a:rPr lang="en-US" sz="1400" dirty="0">
                <a:solidFill>
                  <a:srgbClr val="4B5563"/>
                </a:solidFill>
              </a:rPr>
              <a:t>same issue inside the repo's README view</a:t>
            </a:r>
            <a:endParaRPr lang="en-US" sz="1400" dirty="0"/>
          </a:p>
        </p:txBody>
      </p:sp>
      <p:pic>
        <p:nvPicPr>
          <p:cNvPr id="7" name="dash-shot" descr="/mnt/user-data/outputs/screenshots/13-dashboard-github-issue.jpg"/>
          <p:cNvPicPr>
            <a:picLocks noChangeAspect="1"/>
          </p:cNvPicPr>
          <p:nvPr/>
        </p:nvPicPr>
        <p:blipFill>
          <a:blip r:embed="rId4"/>
          <a:stretch>
            <a:fillRect/>
          </a:stretch>
        </p:blipFill>
        <p:spPr>
          <a:xfrm>
            <a:off x="6245352" y="2365279"/>
            <a:ext cx="5394960" cy="2858962"/>
          </a:xfrm>
          <a:prstGeom prst="rect">
            <a:avLst/>
          </a:prstGeom>
          <a:effectLst>
            <a:outerShdw blurRad="76200" dist="25400" dir="5400000" algn="bl" rotWithShape="0">
              <a:srgbClr val="1E2433">
                <a:alpha val="25000"/>
              </a:srgbClr>
            </a:outerShdw>
          </a:effectLst>
        </p:spPr>
      </p:pic>
      <p:sp>
        <p:nvSpPr>
          <p:cNvPr id="8" name="arrow"/>
          <p:cNvSpPr txBox="1"/>
          <p:nvPr/>
        </p:nvSpPr>
        <p:spPr>
          <a:xfrm>
            <a:off x="5916168" y="3520440"/>
            <a:ext cx="365760" cy="45720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9" name="takeaway"/>
          <p:cNvSpPr txBox="1"/>
          <p:nvPr/>
        </p:nvSpPr>
        <p:spPr>
          <a:xfrm>
            <a:off x="548640" y="5486400"/>
            <a:ext cx="11064240" cy="502920"/>
          </a:xfrm>
          <a:prstGeom prst="rect">
            <a:avLst/>
          </a:prstGeom>
          <a:noFill/>
          <a:ln/>
        </p:spPr>
        <p:txBody>
          <a:bodyPr wrap="square" lIns="0" tIns="0" rIns="0" bIns="0" rtlCol="0" anchor="ctr"/>
          <a:lstStyle/>
          <a:p>
            <a:pPr marL="0" indent="0">
              <a:buNone/>
            </a:pPr>
            <a:r>
              <a:rPr lang="en-US" sz="1500" i="1" dirty="0">
                <a:solidFill>
                  <a:schemeClr val="tx1"/>
                </a:solidFill>
              </a:rPr>
              <a:t>Each repo folder keeps its README.md plus one JSON file per issue under issues/.</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Notion: pages become Markdown</a:t>
            </a:r>
            <a:endParaRPr lang="en-US" sz="3200" dirty="0"/>
          </a:p>
        </p:txBody>
      </p:sp>
      <p:sp>
        <p:nvSpPr>
          <p:cNvPr id="3" name="service-chip"/>
          <p:cNvSpPr txBox="1"/>
          <p:nvPr/>
        </p:nvSpPr>
        <p:spPr>
          <a:xfrm>
            <a:off x="548640" y="1234440"/>
            <a:ext cx="1463040" cy="347472"/>
          </a:xfrm>
          <a:prstGeom prst="roundRect">
            <a:avLst>
              <a:gd name="adj" fmla="val 21053"/>
            </a:avLst>
          </a:prstGeom>
          <a:solidFill>
            <a:schemeClr val="accent5"/>
          </a:solidFill>
          <a:ln/>
        </p:spPr>
        <p:txBody>
          <a:bodyPr wrap="square" lIns="0" tIns="0" rIns="0" bIns="0" rtlCol="0" anchor="ctr"/>
          <a:lstStyle/>
          <a:p>
            <a:pPr marL="0" indent="0" algn="ctr">
              <a:buNone/>
            </a:pPr>
            <a:r>
              <a:rPr lang="en-US" sz="1200" b="1" dirty="0">
                <a:solidFill>
                  <a:schemeClr val="bg1"/>
                </a:solidFill>
              </a:rPr>
              <a:t>NOTION</a:t>
            </a:r>
            <a:endParaRPr lang="en-US" sz="1200" dirty="0"/>
          </a:p>
        </p:txBody>
      </p:sp>
      <p:sp>
        <p:nvSpPr>
          <p:cNvPr id="4" name="orig-caption"/>
          <p:cNvSpPr txBox="1"/>
          <p:nvPr/>
        </p:nvSpPr>
        <p:spPr>
          <a:xfrm>
            <a:off x="548640" y="1737360"/>
            <a:ext cx="5394960" cy="365760"/>
          </a:xfrm>
          <a:prstGeom prst="rect">
            <a:avLst/>
          </a:prstGeom>
          <a:noFill/>
          <a:ln/>
        </p:spPr>
        <p:txBody>
          <a:bodyPr wrap="square" lIns="0" tIns="0" rIns="0" bIns="0" rtlCol="0" anchor="ctr"/>
          <a:lstStyle/>
          <a:p>
            <a:pPr marL="0" indent="0">
              <a:buNone/>
            </a:pPr>
            <a:r>
              <a:rPr lang="en-US" sz="1400" b="1" dirty="0">
                <a:solidFill>
                  <a:schemeClr val="tx2"/>
                </a:solidFill>
              </a:rPr>
              <a:t>Original  </a:t>
            </a:r>
            <a:r>
              <a:rPr lang="en-US" sz="1400" dirty="0">
                <a:solidFill>
                  <a:srgbClr val="4B5563"/>
                </a:solidFill>
              </a:rPr>
              <a:t>“Convexity methodology” page</a:t>
            </a:r>
            <a:endParaRPr lang="en-US" sz="1400" dirty="0"/>
          </a:p>
        </p:txBody>
      </p:sp>
      <p:pic>
        <p:nvPicPr>
          <p:cNvPr id="5" name="orig-shot" descr="/mnt/user-data/outputs/screenshots/03-notion-original-page.jpg"/>
          <p:cNvPicPr>
            <a:picLocks noChangeAspect="1"/>
          </p:cNvPicPr>
          <p:nvPr/>
        </p:nvPicPr>
        <p:blipFill>
          <a:blip r:embed="rId3"/>
          <a:stretch>
            <a:fillRect/>
          </a:stretch>
        </p:blipFill>
        <p:spPr>
          <a:xfrm>
            <a:off x="548640" y="2262606"/>
            <a:ext cx="5394960" cy="3064308"/>
          </a:xfrm>
          <a:prstGeom prst="rect">
            <a:avLst/>
          </a:prstGeom>
          <a:effectLst>
            <a:outerShdw blurRad="76200" dist="25400" dir="5400000" algn="bl" rotWithShape="0">
              <a:srgbClr val="1E2433">
                <a:alpha val="25000"/>
              </a:srgbClr>
            </a:outerShdw>
          </a:effectLst>
        </p:spPr>
      </p:pic>
      <p:sp>
        <p:nvSpPr>
          <p:cNvPr id="6" name="dash-caption"/>
          <p:cNvSpPr txBox="1"/>
          <p:nvPr/>
        </p:nvSpPr>
        <p:spPr>
          <a:xfrm>
            <a:off x="6245352" y="1737360"/>
            <a:ext cx="5394960" cy="365760"/>
          </a:xfrm>
          <a:prstGeom prst="rect">
            <a:avLst/>
          </a:prstGeom>
          <a:noFill/>
          <a:ln/>
        </p:spPr>
        <p:txBody>
          <a:bodyPr wrap="square" lIns="0" tIns="0" rIns="0" bIns="0" rtlCol="0" anchor="ctr"/>
          <a:lstStyle/>
          <a:p>
            <a:pPr marL="0" indent="0">
              <a:buNone/>
            </a:pPr>
            <a:r>
              <a:rPr lang="en-US" sz="1400" b="1" dirty="0">
                <a:solidFill>
                  <a:schemeClr val="tx2"/>
                </a:solidFill>
              </a:rPr>
              <a:t>Dashboard  </a:t>
            </a:r>
            <a:r>
              <a:rPr lang="en-US" sz="1400" dirty="0">
                <a:solidFill>
                  <a:srgbClr val="4B5563"/>
                </a:solidFill>
              </a:rPr>
              <a:t>same page from content.md</a:t>
            </a:r>
            <a:endParaRPr lang="en-US" sz="1400" dirty="0"/>
          </a:p>
        </p:txBody>
      </p:sp>
      <p:pic>
        <p:nvPicPr>
          <p:cNvPr id="7" name="dash-shot" descr="/mnt/user-data/outputs/screenshots/14-dashboard-notion.jpg"/>
          <p:cNvPicPr>
            <a:picLocks noChangeAspect="1"/>
          </p:cNvPicPr>
          <p:nvPr/>
        </p:nvPicPr>
        <p:blipFill>
          <a:blip r:embed="rId4"/>
          <a:stretch>
            <a:fillRect/>
          </a:stretch>
        </p:blipFill>
        <p:spPr>
          <a:xfrm>
            <a:off x="6245352" y="2365738"/>
            <a:ext cx="5394960" cy="2858044"/>
          </a:xfrm>
          <a:prstGeom prst="rect">
            <a:avLst/>
          </a:prstGeom>
          <a:effectLst>
            <a:outerShdw blurRad="76200" dist="25400" dir="5400000" algn="bl" rotWithShape="0">
              <a:srgbClr val="1E2433">
                <a:alpha val="25000"/>
              </a:srgbClr>
            </a:outerShdw>
          </a:effectLst>
        </p:spPr>
      </p:pic>
      <p:sp>
        <p:nvSpPr>
          <p:cNvPr id="8" name="arrow"/>
          <p:cNvSpPr txBox="1"/>
          <p:nvPr/>
        </p:nvSpPr>
        <p:spPr>
          <a:xfrm>
            <a:off x="5916168" y="3520440"/>
            <a:ext cx="365760" cy="457200"/>
          </a:xfrm>
          <a:prstGeom prst="rect">
            <a:avLst/>
          </a:prstGeom>
          <a:noFill/>
          <a:ln/>
        </p:spPr>
        <p:txBody>
          <a:bodyPr wrap="square" lIns="0" tIns="0" rIns="0" bIns="0" rtlCol="0" anchor="ctr"/>
          <a:lstStyle/>
          <a:p>
            <a:pPr marL="0" indent="0" algn="ctr">
              <a:buNone/>
            </a:pPr>
            <a:r>
              <a:rPr lang="en-US" sz="2400" b="1" dirty="0">
                <a:solidFill>
                  <a:schemeClr val="accent1"/>
                </a:solidFill>
              </a:rPr>
              <a:t>→</a:t>
            </a:r>
            <a:endParaRPr lang="en-US" sz="2400" dirty="0"/>
          </a:p>
        </p:txBody>
      </p:sp>
      <p:sp>
        <p:nvSpPr>
          <p:cNvPr id="9" name="takeaway"/>
          <p:cNvSpPr txBox="1"/>
          <p:nvPr/>
        </p:nvSpPr>
        <p:spPr>
          <a:xfrm>
            <a:off x="548640" y="5486400"/>
            <a:ext cx="11064240" cy="502920"/>
          </a:xfrm>
          <a:prstGeom prst="rect">
            <a:avLst/>
          </a:prstGeom>
          <a:noFill/>
          <a:ln/>
        </p:spPr>
        <p:txBody>
          <a:bodyPr wrap="square" lIns="0" tIns="0" rIns="0" bIns="0" rtlCol="0" anchor="ctr"/>
          <a:lstStyle/>
          <a:p>
            <a:pPr marL="0" indent="0">
              <a:buNone/>
            </a:pPr>
            <a:r>
              <a:rPr lang="en-US" sz="1500" i="1" dirty="0">
                <a:solidFill>
                  <a:schemeClr val="tx1"/>
                </a:solidFill>
              </a:rPr>
              <a:t>Headings, bullets and bold text survive as Markdown, with parent page and last-edited time in metadata.</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One search across all four services</a:t>
            </a:r>
            <a:endParaRPr lang="en-US" sz="3200" dirty="0"/>
          </a:p>
        </p:txBody>
      </p:sp>
      <p:pic>
        <p:nvPicPr>
          <p:cNvPr id="3" name="search-shot" descr="/mnt/user-data/outputs/screenshots/10-dashboard-search-4-services.jpg"/>
          <p:cNvPicPr>
            <a:picLocks noChangeAspect="1"/>
          </p:cNvPicPr>
          <p:nvPr/>
        </p:nvPicPr>
        <p:blipFill>
          <a:blip r:embed="rId3"/>
          <a:stretch>
            <a:fillRect/>
          </a:stretch>
        </p:blipFill>
        <p:spPr>
          <a:xfrm>
            <a:off x="548640" y="1668127"/>
            <a:ext cx="7680960" cy="4070386"/>
          </a:xfrm>
          <a:prstGeom prst="rect">
            <a:avLst/>
          </a:prstGeom>
          <a:effectLst>
            <a:outerShdw blurRad="76200" dist="25400" dir="5400000" algn="bl" rotWithShape="0">
              <a:srgbClr val="1E2433">
                <a:alpha val="25000"/>
              </a:srgbClr>
            </a:outerShdw>
          </a:effectLst>
        </p:spPr>
      </p:pic>
      <p:sp>
        <p:nvSpPr>
          <p:cNvPr id="4" name="search-text"/>
          <p:cNvSpPr txBox="1"/>
          <p:nvPr/>
        </p:nvSpPr>
        <p:spPr>
          <a:xfrm>
            <a:off x="8503920" y="1371600"/>
            <a:ext cx="3154680" cy="4572000"/>
          </a:xfrm>
          <a:prstGeom prst="rect">
            <a:avLst/>
          </a:prstGeom>
          <a:noFill/>
          <a:ln/>
        </p:spPr>
        <p:txBody>
          <a:bodyPr wrap="square" lIns="0" tIns="0" rIns="0" bIns="0" rtlCol="0" anchor="t"/>
          <a:lstStyle/>
          <a:p>
            <a:pPr marL="0" indent="0">
              <a:buNone/>
            </a:pPr>
            <a:r>
              <a:rPr lang="en-US" sz="1800" b="1" dirty="0">
                <a:solidFill>
                  <a:schemeClr val="tx2"/>
                </a:solidFill>
              </a:rPr>
              <a:t>“client call with Rachel”</a:t>
            </a:r>
            <a:endParaRPr lang="en-US" sz="1800" dirty="0"/>
          </a:p>
          <a:p>
            <a:pPr marL="0" indent="0">
              <a:buNone/>
            </a:pPr>
            <a:r>
              <a:rPr lang="en-US" sz="800" dirty="0">
                <a:solidFill>
                  <a:srgbClr val="000000"/>
                </a:solidFill>
              </a:rPr>
              <a:t> </a:t>
            </a:r>
            <a:endParaRPr lang="en-US" sz="1800" dirty="0"/>
          </a:p>
          <a:p>
            <a:pPr marL="0" indent="0">
              <a:buNone/>
            </a:pPr>
            <a:r>
              <a:rPr lang="en-US" sz="1600" b="1" dirty="0">
                <a:solidFill>
                  <a:schemeClr val="accent1"/>
                </a:solidFill>
              </a:rPr>
              <a:t>4 results, 4 services</a:t>
            </a:r>
            <a:endParaRPr lang="en-US" sz="1800" dirty="0"/>
          </a:p>
          <a:p>
            <a:pPr marL="0" indent="0">
              <a:buNone/>
            </a:pPr>
            <a:r>
              <a:rPr lang="en-US" sz="800" dirty="0">
                <a:solidFill>
                  <a:srgbClr val="000000"/>
                </a:solidFill>
              </a:rPr>
              <a:t> </a:t>
            </a:r>
            <a:endParaRPr lang="en-US" sz="1800" dirty="0"/>
          </a:p>
          <a:p>
            <a:pPr marL="0" indent="0">
              <a:buNone/>
            </a:pPr>
            <a:r>
              <a:rPr lang="en-US" sz="1400" dirty="0">
                <a:solidFill>
                  <a:schemeClr val="tx1"/>
                </a:solidFill>
              </a:rPr>
              <a:t>Every result carries a colored badge with its service, a date, a highlighted snippet and a link back to the original.</a:t>
            </a:r>
            <a:endParaRPr lang="en-US" sz="1800" dirty="0"/>
          </a:p>
          <a:p>
            <a:pPr marL="0" indent="0">
              <a:buNone/>
            </a:pPr>
            <a:r>
              <a:rPr lang="en-US" sz="800" dirty="0">
                <a:solidFill>
                  <a:srgbClr val="000000"/>
                </a:solidFill>
              </a:rPr>
              <a:t> </a:t>
            </a:r>
            <a:endParaRPr lang="en-US" sz="1800" dirty="0"/>
          </a:p>
          <a:p>
            <a:pPr marL="0" indent="0">
              <a:buNone/>
            </a:pPr>
            <a:r>
              <a:rPr lang="en-US" sz="1400" dirty="0">
                <a:solidFill>
                  <a:schemeClr val="tx1"/>
                </a:solidFill>
              </a:rPr>
              <a:t>Checkboxes limit the search to one service or any combination.</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2"/>
                </a:solidFill>
                <a:latin typeface="Cambria" pitchFamily="34" charset="0"/>
                <a:ea typeface="Cambria" pitchFamily="34" charset="-122"/>
                <a:cs typeface="Cambria" pitchFamily="34" charset="-120"/>
              </a:rPr>
              <a:t>What I learned</a:t>
            </a:r>
            <a:endParaRPr lang="en-US" sz="3200" dirty="0"/>
          </a:p>
        </p:txBody>
      </p:sp>
      <p:sp>
        <p:nvSpPr>
          <p:cNvPr id="3" name="lesson-0"/>
          <p:cNvSpPr txBox="1"/>
          <p:nvPr/>
        </p:nvSpPr>
        <p:spPr>
          <a:xfrm>
            <a:off x="548640" y="1463040"/>
            <a:ext cx="3520440" cy="1920240"/>
          </a:xfrm>
          <a:prstGeom prst="roundRect">
            <a:avLst>
              <a:gd name="adj" fmla="val 4762"/>
            </a:avLst>
          </a:prstGeom>
          <a:solidFill>
            <a:schemeClr val="bg2"/>
          </a:solidFill>
          <a:ln/>
          <a:effectLst>
            <a:outerShdw blurRad="50800" dist="12700" dir="5400000" algn="bl" rotWithShape="0">
              <a:srgbClr val="1E2433">
                <a:alpha val="12000"/>
              </a:srgbClr>
            </a:outerShdw>
          </a:effectLst>
        </p:spPr>
        <p:txBody>
          <a:bodyPr wrap="square" lIns="203200" tIns="203200" rIns="203200" bIns="203200" rtlCol="0" anchor="t"/>
          <a:lstStyle/>
          <a:p>
            <a:pPr marL="0" indent="0">
              <a:buNone/>
            </a:pPr>
            <a:r>
              <a:rPr lang="en-US" sz="1700" b="1" dirty="0">
                <a:solidFill>
                  <a:schemeClr val="tx2"/>
                </a:solidFill>
              </a:rPr>
              <a:t>Official ≠ available</a:t>
            </a:r>
            <a:endParaRPr lang="en-US" sz="1700" dirty="0"/>
          </a:p>
          <a:p>
            <a:pPr marL="0" indent="0">
              <a:buNone/>
            </a:pPr>
            <a:r>
              <a:rPr lang="en-US" sz="1400" dirty="0">
                <a:solidFill>
                  <a:schemeClr val="tx1"/>
                </a:solidFill>
              </a:rPr>
              <a:t>Google's official MCP worked only after a preview enrollment it never got. Read the requirements before configuring.</a:t>
            </a:r>
            <a:endParaRPr lang="en-US" sz="1700" dirty="0"/>
          </a:p>
        </p:txBody>
      </p:sp>
      <p:sp>
        <p:nvSpPr>
          <p:cNvPr id="4" name="lesson-1"/>
          <p:cNvSpPr txBox="1"/>
          <p:nvPr/>
        </p:nvSpPr>
        <p:spPr>
          <a:xfrm>
            <a:off x="4270248" y="1463040"/>
            <a:ext cx="3520440" cy="1920240"/>
          </a:xfrm>
          <a:prstGeom prst="roundRect">
            <a:avLst>
              <a:gd name="adj" fmla="val 4762"/>
            </a:avLst>
          </a:prstGeom>
          <a:solidFill>
            <a:schemeClr val="bg2"/>
          </a:solidFill>
          <a:ln/>
          <a:effectLst>
            <a:outerShdw blurRad="50800" dist="12700" dir="5400000" algn="bl" rotWithShape="0">
              <a:srgbClr val="1E2433">
                <a:alpha val="12000"/>
              </a:srgbClr>
            </a:outerShdw>
          </a:effectLst>
        </p:spPr>
        <p:txBody>
          <a:bodyPr wrap="square" lIns="203200" tIns="203200" rIns="203200" bIns="203200" rtlCol="0" anchor="t"/>
          <a:lstStyle/>
          <a:p>
            <a:pPr marL="0" indent="0">
              <a:buNone/>
            </a:pPr>
            <a:r>
              <a:rPr lang="en-US" sz="1700" b="1" dirty="0">
                <a:solidFill>
                  <a:schemeClr val="tx2"/>
                </a:solidFill>
              </a:rPr>
              <a:t>Secrets stay off the repo</a:t>
            </a:r>
            <a:endParaRPr lang="en-US" sz="1700" dirty="0"/>
          </a:p>
          <a:p>
            <a:pPr marL="0" indent="0">
              <a:buNone/>
            </a:pPr>
            <a:r>
              <a:rPr lang="en-US" sz="1400" dirty="0">
                <a:solidFill>
                  <a:schemeClr val="tx1"/>
                </a:solidFill>
              </a:rPr>
              <a:t>.mcp.json holds addresses; the token lives in ~/.zshrc as ${GITHUB_PAT}; .gitignore excludes local settings.</a:t>
            </a:r>
            <a:endParaRPr lang="en-US" sz="1700" dirty="0"/>
          </a:p>
        </p:txBody>
      </p:sp>
      <p:sp>
        <p:nvSpPr>
          <p:cNvPr id="5" name="lesson-2"/>
          <p:cNvSpPr txBox="1"/>
          <p:nvPr/>
        </p:nvSpPr>
        <p:spPr>
          <a:xfrm>
            <a:off x="7991856" y="1463040"/>
            <a:ext cx="3520440" cy="1920240"/>
          </a:xfrm>
          <a:prstGeom prst="roundRect">
            <a:avLst>
              <a:gd name="adj" fmla="val 4762"/>
            </a:avLst>
          </a:prstGeom>
          <a:solidFill>
            <a:schemeClr val="bg2"/>
          </a:solidFill>
          <a:ln/>
          <a:effectLst>
            <a:outerShdw blurRad="50800" dist="12700" dir="5400000" algn="bl" rotWithShape="0">
              <a:srgbClr val="1E2433">
                <a:alpha val="12000"/>
              </a:srgbClr>
            </a:outerShdw>
          </a:effectLst>
        </p:spPr>
        <p:txBody>
          <a:bodyPr wrap="square" lIns="203200" tIns="203200" rIns="203200" bIns="203200" rtlCol="0" anchor="t"/>
          <a:lstStyle/>
          <a:p>
            <a:pPr marL="0" indent="0">
              <a:buNone/>
            </a:pPr>
            <a:r>
              <a:rPr lang="en-US" sz="1700" b="1" dirty="0">
                <a:solidFill>
                  <a:schemeClr val="tx2"/>
                </a:solidFill>
              </a:rPr>
              <a:t>AI cannot grant itself access</a:t>
            </a:r>
            <a:endParaRPr lang="en-US" sz="1700" dirty="0"/>
          </a:p>
          <a:p>
            <a:pPr marL="0" indent="0">
              <a:buNone/>
            </a:pPr>
            <a:r>
              <a:rPr lang="en-US" sz="1400" dirty="0">
                <a:solidFill>
                  <a:schemeClr val="tx1"/>
                </a:solidFill>
              </a:rPr>
              <a:t>Claude Code refused to edit its own permissions. The human adds the rules.</a:t>
            </a:r>
            <a:endParaRPr lang="en-US" sz="1700" dirty="0"/>
          </a:p>
        </p:txBody>
      </p:sp>
      <p:sp>
        <p:nvSpPr>
          <p:cNvPr id="6" name="lesson-3"/>
          <p:cNvSpPr txBox="1"/>
          <p:nvPr/>
        </p:nvSpPr>
        <p:spPr>
          <a:xfrm>
            <a:off x="548640" y="3703320"/>
            <a:ext cx="3520440" cy="1920240"/>
          </a:xfrm>
          <a:prstGeom prst="roundRect">
            <a:avLst>
              <a:gd name="adj" fmla="val 4762"/>
            </a:avLst>
          </a:prstGeom>
          <a:solidFill>
            <a:schemeClr val="bg2"/>
          </a:solidFill>
          <a:ln/>
          <a:effectLst>
            <a:outerShdw blurRad="50800" dist="12700" dir="5400000" algn="bl" rotWithShape="0">
              <a:srgbClr val="1E2433">
                <a:alpha val="12000"/>
              </a:srgbClr>
            </a:outerShdw>
          </a:effectLst>
        </p:spPr>
        <p:txBody>
          <a:bodyPr wrap="square" lIns="203200" tIns="203200" rIns="203200" bIns="203200" rtlCol="0" anchor="t"/>
          <a:lstStyle/>
          <a:p>
            <a:pPr marL="0" indent="0">
              <a:buNone/>
            </a:pPr>
            <a:r>
              <a:rPr lang="en-US" sz="1700" b="1" dirty="0">
                <a:solidFill>
                  <a:schemeClr val="tx2"/>
                </a:solidFill>
              </a:rPr>
              <a:t>Least privilege</a:t>
            </a:r>
            <a:endParaRPr lang="en-US" sz="1700" dirty="0"/>
          </a:p>
          <a:p>
            <a:pPr marL="0" indent="0">
              <a:buNone/>
            </a:pPr>
            <a:r>
              <a:rPr lang="en-US" sz="1400" dirty="0">
                <a:solidFill>
                  <a:schemeClr val="tx1"/>
                </a:solidFill>
              </a:rPr>
              <a:t>Read-only allow rules for downloads; the GitHub token only reaches the test organization.</a:t>
            </a:r>
            <a:endParaRPr lang="en-US" sz="1700" dirty="0"/>
          </a:p>
        </p:txBody>
      </p:sp>
      <p:sp>
        <p:nvSpPr>
          <p:cNvPr id="7" name="lesson-4"/>
          <p:cNvSpPr txBox="1"/>
          <p:nvPr/>
        </p:nvSpPr>
        <p:spPr>
          <a:xfrm>
            <a:off x="4270248" y="3703320"/>
            <a:ext cx="3520440" cy="1920240"/>
          </a:xfrm>
          <a:prstGeom prst="roundRect">
            <a:avLst>
              <a:gd name="adj" fmla="val 4762"/>
            </a:avLst>
          </a:prstGeom>
          <a:solidFill>
            <a:schemeClr val="bg2"/>
          </a:solidFill>
          <a:ln/>
          <a:effectLst>
            <a:outerShdw blurRad="50800" dist="12700" dir="5400000" algn="bl" rotWithShape="0">
              <a:srgbClr val="1E2433">
                <a:alpha val="12000"/>
              </a:srgbClr>
            </a:outerShdw>
          </a:effectLst>
        </p:spPr>
        <p:txBody>
          <a:bodyPr wrap="square" lIns="203200" tIns="203200" rIns="203200" bIns="203200" rtlCol="0" anchor="t"/>
          <a:lstStyle/>
          <a:p>
            <a:pPr marL="0" indent="0">
              <a:buNone/>
            </a:pPr>
            <a:r>
              <a:rPr lang="en-US" sz="1700" b="1" dirty="0">
                <a:solidFill>
                  <a:schemeClr val="tx2"/>
                </a:solidFill>
              </a:rPr>
              <a:t>Spec before data</a:t>
            </a:r>
            <a:endParaRPr lang="en-US" sz="1700" dirty="0"/>
          </a:p>
          <a:p>
            <a:pPr marL="0" indent="0">
              <a:buNone/>
            </a:pPr>
            <a:r>
              <a:rPr lang="en-US" sz="1400" dirty="0">
                <a:solidFill>
                  <a:schemeClr val="tx1"/>
                </a:solidFill>
              </a:rPr>
              <a:t>Writing localStorageFormats.md first made Claude follow my format instead of inventing one.</a:t>
            </a:r>
            <a:endParaRPr lang="en-US" sz="1700" dirty="0"/>
          </a:p>
        </p:txBody>
      </p:sp>
      <p:sp>
        <p:nvSpPr>
          <p:cNvPr id="8" name="lesson-5"/>
          <p:cNvSpPr txBox="1"/>
          <p:nvPr/>
        </p:nvSpPr>
        <p:spPr>
          <a:xfrm>
            <a:off x="7991856" y="3703320"/>
            <a:ext cx="3520440" cy="1920240"/>
          </a:xfrm>
          <a:prstGeom prst="roundRect">
            <a:avLst>
              <a:gd name="adj" fmla="val 4762"/>
            </a:avLst>
          </a:prstGeom>
          <a:solidFill>
            <a:schemeClr val="bg2"/>
          </a:solidFill>
          <a:ln/>
          <a:effectLst>
            <a:outerShdw blurRad="50800" dist="12700" dir="5400000" algn="bl" rotWithShape="0">
              <a:srgbClr val="1E2433">
                <a:alpha val="12000"/>
              </a:srgbClr>
            </a:outerShdw>
          </a:effectLst>
        </p:spPr>
        <p:txBody>
          <a:bodyPr wrap="square" lIns="203200" tIns="203200" rIns="203200" bIns="203200" rtlCol="0" anchor="t"/>
          <a:lstStyle/>
          <a:p>
            <a:pPr marL="0" indent="0">
              <a:buNone/>
            </a:pPr>
            <a:r>
              <a:rPr lang="en-US" sz="1700" b="1" dirty="0">
                <a:solidFill>
                  <a:schemeClr val="tx2"/>
                </a:solidFill>
              </a:rPr>
              <a:t>Formats need iteration</a:t>
            </a:r>
            <a:endParaRPr lang="en-US" sz="1700" dirty="0"/>
          </a:p>
          <a:p>
            <a:pPr marL="0" indent="0">
              <a:buNone/>
            </a:pPr>
            <a:r>
              <a:rPr lang="en-US" sz="1400" dirty="0">
                <a:solidFill>
                  <a:schemeClr val="tx1"/>
                </a:solidFill>
              </a:rPr>
              <a:t>Notion returns no creation date (the spec now sorts by last edit), and its parent page kept raw &lt;page&gt; tags (next fix).</a:t>
            </a:r>
            <a:endParaRPr lang="en-US" sz="17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11680"/>
            <a:ext cx="10698480" cy="1280160"/>
          </a:xfrm>
          <a:prstGeom prst="rect">
            <a:avLst/>
          </a:prstGeom>
          <a:noFill/>
          <a:ln/>
        </p:spPr>
        <p:txBody>
          <a:bodyPr wrap="square" lIns="0" tIns="0" rIns="0" bIns="0" rtlCol="0" anchor="b"/>
          <a:lstStyle/>
          <a:p>
            <a:pPr marL="0" indent="0" algn="l">
              <a:buNone/>
            </a:pPr>
            <a:r>
              <a:rPr lang="en-US" sz="4400" b="1" dirty="0">
                <a:solidFill>
                  <a:schemeClr val="bg1"/>
                </a:solidFill>
                <a:latin typeface="Cambria" pitchFamily="34" charset="0"/>
                <a:ea typeface="Cambria" pitchFamily="34" charset="-122"/>
                <a:cs typeface="Cambria" pitchFamily="34" charset="-120"/>
              </a:rPr>
              <a:t>Try it</a:t>
            </a:r>
            <a:endParaRPr lang="en-US" sz="4400" dirty="0"/>
          </a:p>
        </p:txBody>
      </p:sp>
      <p:sp>
        <p:nvSpPr>
          <p:cNvPr id="3" name="Text 0"/>
          <p:cNvSpPr>
            <a:spLocks noGrp="1"/>
          </p:cNvSpPr>
          <p:nvPr>
            <p:ph type="body" idx="101" hasCustomPrompt="1"/>
          </p:nvPr>
        </p:nvSpPr>
        <p:spPr>
          <a:xfrm>
            <a:off x="731520" y="3474720"/>
            <a:ext cx="10698480" cy="1463040"/>
          </a:xfrm>
          <a:prstGeom prst="rect">
            <a:avLst/>
          </a:prstGeom>
          <a:noFill/>
          <a:ln/>
        </p:spPr>
        <p:txBody>
          <a:bodyPr wrap="square" lIns="0" tIns="0" rIns="0" bIns="0" rtlCol="0" anchor="t"/>
          <a:lstStyle/>
          <a:p>
            <a:pPr marL="0" indent="0">
              <a:buNone/>
            </a:pPr>
            <a:r>
              <a:rPr lang="en-US" sz="2000" b="1" dirty="0">
                <a:solidFill>
                  <a:schemeClr val="accent1"/>
                </a:solidFill>
                <a:latin typeface="Calibri" pitchFamily="34" charset="0"/>
                <a:ea typeface="Calibri" pitchFamily="34" charset="-122"/>
                <a:cs typeface="Calibri" pitchFamily="34" charset="-120"/>
              </a:rPr>
              <a:t>github.com/israelpollak-hub/hw2-services-dashboard</a:t>
            </a:r>
            <a:endParaRPr lang="en-US" sz="2000" dirty="0"/>
          </a:p>
          <a:p>
            <a:pPr marL="0" indent="0">
              <a:buNone/>
            </a:pPr>
            <a:r>
              <a:rPr lang="en-US" sz="1000" dirty="0">
                <a:solidFill>
                  <a:schemeClr val="bg2"/>
                </a:solidFill>
                <a:latin typeface="Calibri" pitchFamily="34" charset="0"/>
                <a:ea typeface="Calibri" pitchFamily="34" charset="-122"/>
                <a:cs typeface="Calibri" pitchFamily="34" charset="-120"/>
              </a:rPr>
              <a:t> </a:t>
            </a:r>
            <a:endParaRPr lang="en-US" sz="2000" dirty="0"/>
          </a:p>
          <a:p>
            <a:pPr marL="0" indent="0">
              <a:buNone/>
            </a:pPr>
            <a:r>
              <a:rPr lang="en-US" sz="1600" dirty="0">
                <a:solidFill>
                  <a:schemeClr val="bg2"/>
                </a:solidFill>
                <a:latin typeface="Courier New" pitchFamily="34" charset="0"/>
                <a:ea typeface="Courier New" pitchFamily="34" charset="-122"/>
                <a:cs typeface="Courier New" pitchFamily="34" charset="-120"/>
              </a:rPr>
              <a:t>cd hw2-services-dashboard</a:t>
            </a:r>
            <a:endParaRPr lang="en-US" sz="2000" dirty="0"/>
          </a:p>
          <a:p>
            <a:pPr marL="0" indent="0">
              <a:buNone/>
            </a:pPr>
            <a:r>
              <a:rPr lang="en-US" sz="1600" dirty="0">
                <a:solidFill>
                  <a:schemeClr val="bg2"/>
                </a:solidFill>
                <a:latin typeface="Courier New" pitchFamily="34" charset="0"/>
                <a:ea typeface="Courier New" pitchFamily="34" charset="-122"/>
                <a:cs typeface="Courier New" pitchFamily="34" charset="-120"/>
              </a:rPr>
              <a:t>python3 -m http.server 8000</a:t>
            </a:r>
            <a:endParaRPr lang="en-US" sz="2000" dirty="0"/>
          </a:p>
          <a:p>
            <a:pPr marL="0" indent="0">
              <a:buNone/>
            </a:pPr>
            <a:r>
              <a:rPr lang="en-US" sz="1600" dirty="0">
                <a:solidFill>
                  <a:schemeClr val="bg2"/>
                </a:solidFill>
                <a:latin typeface="Courier New" pitchFamily="34" charset="0"/>
                <a:ea typeface="Courier New" pitchFamily="34" charset="-122"/>
                <a:cs typeface="Courier New" pitchFamily="34" charset="-120"/>
              </a:rPr>
              <a:t>open http://localhost:8000/dashboard/</a:t>
            </a:r>
            <a:endParaRPr lang="en-US" sz="2000" dirty="0"/>
          </a:p>
        </p:txBody>
      </p:sp>
    </p:spTree>
  </p:cSld>
  <p:clrMapOvr>
    <a:masterClrMapping/>
  </p:clrMapOvr>
</p:sld>
</file>

<file path=ppt/theme/theme1.xml><?xml version="1.0" encoding="utf-8"?>
<a:theme xmlns:a="http://schemas.openxmlformats.org/drawingml/2006/main" name="Quillfeather">
  <a:themeElements>
    <a:clrScheme name="Quillfeather">
      <a:dk1>
        <a:srgbClr val="1E2433"/>
      </a:dk1>
      <a:lt1>
        <a:srgbClr val="FFFFFF"/>
      </a:lt1>
      <a:dk2>
        <a:srgbClr val="14213D"/>
      </a:dk2>
      <a:lt2>
        <a:srgbClr val="EEF1F6"/>
      </a:lt2>
      <a:accent1>
        <a:srgbClr val="C9A227"/>
      </a:accent1>
      <a:accent2>
        <a:srgbClr val="C5221F"/>
      </a:accent2>
      <a:accent3>
        <a:srgbClr val="1A73E8"/>
      </a:accent3>
      <a:accent4>
        <a:srgbClr val="24292F"/>
      </a:accent4>
      <a:accent5>
        <a:srgbClr val="7B4FC4"/>
      </a:accent5>
      <a:accent6>
        <a:srgbClr val="2E7D5B"/>
      </a:accent6>
      <a:hlink>
        <a:srgbClr val="1A73E8"/>
      </a:hlink>
      <a:folHlink>
        <a:srgbClr val="7B4FC4"/>
      </a:folHlink>
    </a:clrScheme>
    <a:fontScheme name="Quillfeath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1478</Words>
  <Application>Microsoft Macintosh PowerPoint</Application>
  <PresentationFormat>Widescreen</PresentationFormat>
  <Paragraphs>196</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Courier New</vt:lpstr>
      <vt:lpstr>Quillfeather</vt:lpstr>
      <vt:lpstr>3rd Party Services Dashboard</vt:lpstr>
      <vt:lpstr>How the pieces fit together</vt:lpstr>
      <vt:lpstr>Four services, four MCP connections</vt:lpstr>
      <vt:lpstr>Realistic test data with one shared story</vt:lpstr>
      <vt:lpstr>The storage format was designed first</vt:lpstr>
      <vt:lpstr>A skill makes the download repeatable</vt:lpstr>
      <vt:lpstr>Gmail: the email and its local copy</vt:lpstr>
      <vt:lpstr>Calendar: event details survive the trip</vt:lpstr>
      <vt:lpstr>GitHub: repos and their issues</vt:lpstr>
      <vt:lpstr>Notion: pages become Markdown</vt:lpstr>
      <vt:lpstr>One search across all four services</vt:lpstr>
      <vt:lpstr>What I learned</vt:lpstr>
      <vt:lpstr>Try it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3rd Party Services Dashboard (HW2)</dc:title>
  <dc:subject>PptxGenJS Presentation</dc:subject>
  <dc:creator>Sruly (Israel Pollak)</dc:creator>
  <cp:lastModifiedBy>Sruly Pollak</cp:lastModifiedBy>
  <cp:revision>2</cp:revision>
  <dcterms:created xsi:type="dcterms:W3CDTF">2026-10-16T18:53:24Z</dcterms:created>
  <dcterms:modified xsi:type="dcterms:W3CDTF">2026-10-16T19:04:34Z</dcterms:modified>
</cp:coreProperties>
</file>